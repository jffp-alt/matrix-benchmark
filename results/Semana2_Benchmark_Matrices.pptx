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1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ortada" id="{4d07f2ee-60b2-9bbe-cadf-c67047fe17c8}">
          <p14:sldIdLst>
            <p14:sldId id="256"/>
          </p14:sldIdLst>
        </p14:section>
        <p14:section name="Agenda" id="{7de62346-ada3-3b94-0f72-6d5d1088a425}">
          <p14:sldIdLst>
            <p14:sldId id="257"/>
          </p14:sldIdLst>
        </p14:section>
        <p14:section name="Implementaciones" id="{c09685fa-552a-8ebe-71c0-614f98ab79c5}">
          <p14:sldIdLst>
            <p14:sldId id="258"/>
            <p14:sldId id="259"/>
            <p14:sldId id="260"/>
            <p14:sldId id="261"/>
          </p14:sldIdLst>
        </p14:section>
        <p14:section name="Decisiones de Diseno" id="{35dcc64c-8e82-1a11-1f4c-c79de774fced}">
          <p14:sldIdLst>
            <p14:sldId id="262"/>
            <p14:sldId id="263"/>
            <p14:sldId id="264"/>
          </p14:sldIdLst>
        </p14:section>
        <p14:section name="Entorno" id="{a4f08b2e-56b7-4f02-7e33-8468e5457a21}">
          <p14:sldIdLst>
            <p14:sldId id="265"/>
            <p14:sldId id="266"/>
          </p14:sldIdLst>
        </p14:section>
        <p14:section name="Resultados" id="{53c46773-2d0b-6ffd-2ff1-177dcd597fd5}">
          <p14:sldIdLst>
            <p14:sldId id="267"/>
            <p14:sldId id="268"/>
            <p14:sldId id="269"/>
            <p14:sldId id="270"/>
          </p14:sldIdLst>
        </p14:section>
        <p14:section name="Analisis Estadistico" id="{83462947-2403-c2a8-9616-a796589c1e57}">
          <p14:sldIdLst>
            <p14:sldId id="271"/>
            <p14:sldId id="272"/>
            <p14:sldId id="273"/>
            <p14:sldId id="274"/>
            <p14:sldId id="275"/>
            <p14:sldId id="276"/>
            <p14:sldId id="277"/>
          </p14:sldIdLst>
        </p14:section>
        <p14:section name="Conclusiones" id="{67ad65ed-e7aa-5994-0c2b-004b6692eda8}">
          <p14:sldIdLst>
            <p14:sldId id="27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C++</c:v>
                </c:pt>
              </c:strCache>
            </c:strRef>
          </c:tx>
          <c:spPr>
            <a:solidFill>
              <a:srgbClr val="065A8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N=500</c:v>
                  </c:pt>
                  <c:pt idx="1">
                    <c:v>N=1000</c:v>
                  </c:pt>
                  <c:pt idx="2">
                    <c:v>N=1500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2.73</c:v>
                </c:pt>
                <c:pt idx="1">
                  <c:v>28</c:v>
                </c:pt>
                <c:pt idx="2">
                  <c:v>97.83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Go</c:v>
                </c:pt>
              </c:strCache>
            </c:strRef>
          </c:tx>
          <c:spPr>
            <a:solidFill>
              <a:srgbClr val="00A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N=500</c:v>
                  </c:pt>
                  <c:pt idx="1">
                    <c:v>N=1000</c:v>
                  </c:pt>
                  <c:pt idx="2">
                    <c:v>N=1500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0.32</c:v>
                </c:pt>
                <c:pt idx="1">
                  <c:v>4.72</c:v>
                </c:pt>
                <c:pt idx="2">
                  <c:v>21.42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Java</c:v>
                </c:pt>
              </c:strCache>
            </c:strRef>
          </c:tx>
          <c:spPr>
            <a:solidFill>
              <a:srgbClr val="E67E2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N=500</c:v>
                  </c:pt>
                  <c:pt idx="1">
                    <c:v>N=1000</c:v>
                  </c:pt>
                  <c:pt idx="2">
                    <c:v>N=1500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0.26</c:v>
                </c:pt>
                <c:pt idx="1">
                  <c:v>4.65</c:v>
                </c:pt>
                <c:pt idx="2">
                  <c:v>27.8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Python</c:v>
                </c:pt>
              </c:strCache>
            </c:strRef>
          </c:tx>
          <c:spPr>
            <a:solidFill>
              <a:srgbClr val="F9616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N=500</c:v>
                  </c:pt>
                  <c:pt idx="1">
                    <c:v>N=1000</c:v>
                  </c:pt>
                  <c:pt idx="2">
                    <c:v>N=1500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12.46</c:v>
                </c:pt>
                <c:pt idx="1">
                  <c:v>101.88</c:v>
                </c:pt>
                <c:pt idx="2">
                  <c:v>342.08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0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83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1C7293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1C7293"/>
                    </a:solidFill>
                    <a:latin typeface="Arial"/>
                  </a:rPr>
                  <a:t>Tiempo (segundos)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C7293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Presentar el objetivo: implementar multiplicación naive de matrices en 4 lenguajes y obtener primeros resultados de benchmark.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Resumen de los temas a cubrir en esta presentación.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Explicar el algoritmo naive: triple bucle, sin optimizaciones. El mismo algoritmo se implementa de forma idéntica en los 4 lenguajes.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implementación usa el mismo algoritmo naive con triple bucle. Las diferencias son sintácticas: tipos de datos, funciones de tiempo, y estructuras de matrices propias de cada lenguaje.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generador lineal congruencial (LCG) asegura reproducibilidad: mismas semillas = mismas matrices = mismos resultados numéricos en los 4 lenguajes.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Tres decisiones clave: Docker para aislamiento, -O0 para no beneficiar a C++ con optimizaciones del compilador, y medir solo la multiplicación.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Snakemake automatiza todo el pipeline. El formato CSV estándar con 4 columnas facilita el análisis posterior.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Documentar el entorno es clave para la reproducibilidad. Imágenes Docker oficiales con versiones fijas.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Tabla resumen de las estadísticas descriptivas. Go y Java lideran, Python es el más lento. C++ con -O0 no puede optimizar.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Gráfico de barras agrupado mostrando tiempos medios. Python domina visualmente por sus tiempos mucho mayores.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Ratios de rendimiento para N=1500. La baja variabilidad confirma que el experimento es estable.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Gráfico de barras con barras de error (media ± desviación estándar). Python domina por tiempos muy superiores. Go y Java son competitivos.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Boxplots separados por tamaño de matriz. Se observa baja variabilidad y outliers mínimos.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gráfico de interacción muestra que las curvas NO son paralelas: la brecha entre Python y los demás se amplifica con N. Esto confirma interacción significativa entre factores.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Izquierda: mapa de calor con tiempos absolutos. Derecha: speedup relativo a Python. Java alcanza 48x en N=500 pero baja a 12x en N=1500.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ANOVA de dos factores: los tres efectos son significativos. Se rechaza H₀. El efecto de interacción indica que las diferencias entre lenguajes cambian según 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Tukey HSD: C++, Go y Java forman un grupo homogéneo. Python es significativamente diferente de los tres.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Conclusiones finales: H₀ rechazada. Python significativamente más lento. C++/Go/Java sin diferencias significativas colapsando N. Experimento reproducible y estable.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097280"/>
            <a:ext cx="8229600" cy="9144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4709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Universidad de Santiago de Chile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09160"/>
            <a:ext cx="54864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AF0F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477316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C7293"/>
                </a:solidFill>
              </a:rPr>
              <a:t>Semana 2 – Benchmark Matrices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73168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C729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_DARK">
    <p:bg>
      <p:bgPr>
        <a:solidFill>
          <a:srgbClr val="065A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0"/>
            <a:ext cx="2743200" cy="9144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09160"/>
            <a:ext cx="54864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09160"/>
            <a:ext cx="54864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C7293"/>
                </a:solidFill>
              </a:rPr>
              <a:t>Semana 2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37160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Implementación y Ejecución
</a:t>
            </a:r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del Experimento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29184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C7293"/>
                </a:solidFill>
              </a:rPr>
              <a:t>Benchmark Reproducible de Multiplicación de Matrices NxN
</a:t>
            </a:r>
            <a:pPr indent="0" marL="0">
              <a:buNone/>
            </a:pPr>
            <a:r>
              <a:rPr lang="en-US" sz="1400" dirty="0">
                <a:solidFill>
                  <a:srgbClr val="EAF0F6"/>
                </a:solidFill>
              </a:rPr>
              <a:t>C++ · Go · Java · Python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09160"/>
            <a:ext cx="54864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B2838"/>
                </a:solidFill>
              </a:rPr>
              <a:t>Agenda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051560"/>
            <a:ext cx="502920" cy="5029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0515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01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371600" y="1051560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838"/>
                </a:solidFill>
              </a:rPr>
              <a:t>Algoritmo e Implementaciones
</a:t>
            </a:r>
            <a:pPr indent="0" marL="0">
              <a:buNone/>
            </a:pPr>
            <a:r>
              <a:rPr lang="en-US" sz="1300" dirty="0">
                <a:solidFill>
                  <a:srgbClr val="1C7293"/>
                </a:solidFill>
              </a:rPr>
              <a:t>Multiplicación naive O(n³) en 4 lenguajes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1828800"/>
            <a:ext cx="502920" cy="5029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008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02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1828800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838"/>
                </a:solidFill>
              </a:rPr>
              <a:t>Decisiones de Diseño
</a:t>
            </a:r>
            <a:pPr indent="0" marL="0">
              <a:buNone/>
            </a:pPr>
            <a:r>
              <a:rPr lang="en-US" sz="1300" dirty="0">
                <a:solidFill>
                  <a:srgbClr val="1C7293"/>
                </a:solidFill>
              </a:rPr>
              <a:t>Condiciones comparables: Docker, LCG, -O0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40080" y="2606040"/>
            <a:ext cx="502920" cy="5029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" y="2606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03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2606040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838"/>
                </a:solidFill>
              </a:rPr>
              <a:t>Entorno de Ejecución
</a:t>
            </a:r>
            <a:pPr indent="0" marL="0">
              <a:buNone/>
            </a:pPr>
            <a:r>
              <a:rPr lang="en-US" sz="1300" dirty="0">
                <a:solidFill>
                  <a:srgbClr val="1C7293"/>
                </a:solidFill>
              </a:rPr>
              <a:t>Características del hardware y software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640080" y="3383280"/>
            <a:ext cx="502920" cy="5029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" y="3383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04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3383280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838"/>
                </a:solidFill>
              </a:rPr>
              <a:t>Primeros Resultados
</a:t>
            </a:r>
            <a:pPr indent="0" marL="0">
              <a:buNone/>
            </a:pPr>
            <a:r>
              <a:rPr lang="en-US" sz="1300" dirty="0">
                <a:solidFill>
                  <a:srgbClr val="1C7293"/>
                </a:solidFill>
              </a:rPr>
              <a:t>Estadísticas descriptivas y gráficos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640080" y="4160520"/>
            <a:ext cx="502920" cy="5029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0080" y="4160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05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371600" y="4160520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838"/>
                </a:solidFill>
              </a:rPr>
              <a:t>Análisis Estadístico
</a:t>
            </a:r>
            <a:pPr indent="0" marL="0">
              <a:buNone/>
            </a:pPr>
            <a:r>
              <a:rPr lang="en-US" sz="1300" dirty="0">
                <a:solidFill>
                  <a:srgbClr val="1C7293"/>
                </a:solidFill>
              </a:rPr>
              <a:t>ANOVA, Tukey HSD, gráficas y conclusiones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73168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C729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37160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01</a:t>
            </a:r>
            <a:endParaRPr lang="en-US" sz="4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92608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Algoritmo e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Implementaciones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09160"/>
            <a:ext cx="54864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B2838"/>
                </a:solidFill>
              </a:rPr>
              <a:t>Multiplicación Naive O(n³)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97280"/>
            <a:ext cx="38404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5A82"/>
                </a:solidFill>
              </a:rPr>
              <a:t>Algoritmo clásico
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rgbClr val="1B2838"/>
                </a:solidFill>
              </a:rPr>
              <a:t>Triple bucle anidado que computa cada
elemento C[i][j] como el producto punto
de la fila i de A y la columna j de B.
</a:t>
            </a:r>
            <a:endParaRPr lang="en-US" sz="1800" dirty="0"/>
          </a:p>
          <a:p>
            <a:pPr indent="0" marL="0">
              <a:buNone/>
            </a:pPr>
            <a:r>
              <a:rPr lang="en-US" sz="1300" b="1" dirty="0">
                <a:solidFill>
                  <a:srgbClr val="F96167"/>
                </a:solidFill>
              </a:rPr>
              <a:t>Complejidad: O(n³)
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C7293"/>
                </a:solidFill>
              </a:rPr>
              <a:t>Sin optimizaciones de cache, SIMD,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C7293"/>
                </a:solidFill>
              </a:rPr>
              <a:t>ni paralelismo.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754880" y="1097280"/>
            <a:ext cx="3931920" cy="2926080"/>
          </a:xfrm>
          <a:prstGeom prst="roundRect">
            <a:avLst>
              <a:gd name="adj" fmla="val 4688"/>
            </a:avLst>
          </a:prstGeom>
          <a:solidFill>
            <a:srgbClr val="1B2838"/>
          </a:solidFill>
          <a:ln/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4937760" y="1371600"/>
            <a:ext cx="35661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i ← 0 to n-1:
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 j ← 0 to n-1:
</a:t>
            </a:r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C[i][j] ← 0
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k ← 0 to n-1:
</a:t>
            </a:r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C[i][j] += A[i][k]*B[k][j]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029200" y="347472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EAF0F6"/>
                </a:solidFill>
              </a:rPr>
              <a:t>Pseudocódigo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73168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C729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B2838"/>
                </a:solidFill>
              </a:rPr>
              <a:t>4 Lenguajes, 1 Algoritmo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931920" cy="1463040"/>
          </a:xfrm>
          <a:prstGeom prst="roundRect">
            <a:avLst>
              <a:gd name="adj" fmla="val 6250"/>
            </a:avLst>
          </a:prstGeom>
          <a:solidFill>
            <a:srgbClr val="EAF0F6"/>
          </a:solidFill>
          <a:ln/>
        </p:spPr>
      </p:sp>
      <p:sp>
        <p:nvSpPr>
          <p:cNvPr id="4" name="Shape 2"/>
          <p:cNvSpPr/>
          <p:nvPr/>
        </p:nvSpPr>
        <p:spPr>
          <a:xfrm>
            <a:off x="594360" y="1234440"/>
            <a:ext cx="822960" cy="320040"/>
          </a:xfrm>
          <a:prstGeom prst="roundRect">
            <a:avLst>
              <a:gd name="adj" fmla="val 14286"/>
            </a:avLst>
          </a:prstGeom>
          <a:solidFill>
            <a:srgbClr val="065A8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94360" y="123444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C++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554480" y="1234440"/>
            <a:ext cx="2651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838"/>
                </a:solidFill>
              </a:rPr>
              <a:t>Tipos: </a:t>
            </a:r>
            <a:pPr indent="0" marL="0">
              <a:buNone/>
            </a:pPr>
            <a:r>
              <a:rPr lang="en-US" sz="1100" dirty="0">
                <a:solidFill>
                  <a:srgbClr val="1C7293"/>
                </a:solidFill>
              </a:rPr>
              <a:t>vector&lt;vector&lt;double&gt;&gt;
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B2838"/>
                </a:solidFill>
              </a:rPr>
              <a:t>Timer: </a:t>
            </a:r>
            <a:pPr indent="0" marL="0">
              <a:buNone/>
            </a:pPr>
            <a:r>
              <a:rPr lang="en-US" sz="1100" dirty="0">
                <a:solidFill>
                  <a:srgbClr val="1C7293"/>
                </a:solidFill>
              </a:rPr>
              <a:t>chrono::high_resolution_clock
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B2838"/>
                </a:solidFill>
              </a:rPr>
              <a:t>Archivo: </a:t>
            </a:r>
            <a:pPr indent="0" marL="0">
              <a:buNone/>
            </a:pPr>
            <a:r>
              <a:rPr lang="en-US" sz="1100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matrix_mult.cpp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754880" y="1097280"/>
            <a:ext cx="3931920" cy="1463040"/>
          </a:xfrm>
          <a:prstGeom prst="roundRect">
            <a:avLst>
              <a:gd name="adj" fmla="val 6250"/>
            </a:avLst>
          </a:prstGeom>
          <a:solidFill>
            <a:srgbClr val="EAF0F6"/>
          </a:solidFill>
          <a:ln/>
        </p:spPr>
      </p:sp>
      <p:sp>
        <p:nvSpPr>
          <p:cNvPr id="8" name="Shape 6"/>
          <p:cNvSpPr/>
          <p:nvPr/>
        </p:nvSpPr>
        <p:spPr>
          <a:xfrm>
            <a:off x="4892040" y="1234440"/>
            <a:ext cx="822960" cy="320040"/>
          </a:xfrm>
          <a:prstGeom prst="roundRect">
            <a:avLst>
              <a:gd name="adj" fmla="val 14286"/>
            </a:avLst>
          </a:prstGeom>
          <a:solidFill>
            <a:srgbClr val="00ADD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892040" y="123444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Go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852160" y="1234440"/>
            <a:ext cx="2651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838"/>
                </a:solidFill>
              </a:rPr>
              <a:t>Tipos: </a:t>
            </a:r>
            <a:pPr indent="0" marL="0">
              <a:buNone/>
            </a:pPr>
            <a:r>
              <a:rPr lang="en-US" sz="1100" dirty="0">
                <a:solidFill>
                  <a:srgbClr val="1C7293"/>
                </a:solidFill>
              </a:rPr>
              <a:t>[][]float64
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B2838"/>
                </a:solidFill>
              </a:rPr>
              <a:t>Timer: </a:t>
            </a:r>
            <a:pPr indent="0" marL="0">
              <a:buNone/>
            </a:pPr>
            <a:r>
              <a:rPr lang="en-US" sz="1100" dirty="0">
                <a:solidFill>
                  <a:srgbClr val="1C7293"/>
                </a:solidFill>
              </a:rPr>
              <a:t>time.Now() / time.Since()
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B2838"/>
                </a:solidFill>
              </a:rPr>
              <a:t>Archivo: </a:t>
            </a:r>
            <a:pPr indent="0" marL="0">
              <a:buNone/>
            </a:pPr>
            <a:r>
              <a:rPr lang="en-US" sz="1100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matrix_mult.go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2834640"/>
            <a:ext cx="3931920" cy="1463040"/>
          </a:xfrm>
          <a:prstGeom prst="roundRect">
            <a:avLst>
              <a:gd name="adj" fmla="val 6250"/>
            </a:avLst>
          </a:prstGeom>
          <a:solidFill>
            <a:srgbClr val="EAF0F6"/>
          </a:solidFill>
          <a:ln/>
        </p:spPr>
      </p:sp>
      <p:sp>
        <p:nvSpPr>
          <p:cNvPr id="12" name="Shape 10"/>
          <p:cNvSpPr/>
          <p:nvPr/>
        </p:nvSpPr>
        <p:spPr>
          <a:xfrm>
            <a:off x="594360" y="2971800"/>
            <a:ext cx="822960" cy="320040"/>
          </a:xfrm>
          <a:prstGeom prst="roundRect">
            <a:avLst>
              <a:gd name="adj" fmla="val 14286"/>
            </a:avLst>
          </a:prstGeom>
          <a:solidFill>
            <a:srgbClr val="E67E2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94360" y="297180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Java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554480" y="2971800"/>
            <a:ext cx="2651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838"/>
                </a:solidFill>
              </a:rPr>
              <a:t>Tipos: </a:t>
            </a:r>
            <a:pPr indent="0" marL="0">
              <a:buNone/>
            </a:pPr>
            <a:r>
              <a:rPr lang="en-US" sz="1100" dirty="0">
                <a:solidFill>
                  <a:srgbClr val="1C7293"/>
                </a:solidFill>
              </a:rPr>
              <a:t>double[][]
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B2838"/>
                </a:solidFill>
              </a:rPr>
              <a:t>Timer: </a:t>
            </a:r>
            <a:pPr indent="0" marL="0">
              <a:buNone/>
            </a:pPr>
            <a:r>
              <a:rPr lang="en-US" sz="1100" dirty="0">
                <a:solidFill>
                  <a:srgbClr val="1C7293"/>
                </a:solidFill>
              </a:rPr>
              <a:t>System.nanoTime()
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B2838"/>
                </a:solidFill>
              </a:rPr>
              <a:t>Archivo: </a:t>
            </a:r>
            <a:pPr indent="0" marL="0">
              <a:buNone/>
            </a:pPr>
            <a:r>
              <a:rPr lang="en-US" sz="1100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MatrixMult.java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754880" y="2834640"/>
            <a:ext cx="3931920" cy="1463040"/>
          </a:xfrm>
          <a:prstGeom prst="roundRect">
            <a:avLst>
              <a:gd name="adj" fmla="val 6250"/>
            </a:avLst>
          </a:prstGeom>
          <a:solidFill>
            <a:srgbClr val="EAF0F6"/>
          </a:solidFill>
          <a:ln/>
        </p:spPr>
      </p:sp>
      <p:sp>
        <p:nvSpPr>
          <p:cNvPr id="16" name="Shape 14"/>
          <p:cNvSpPr/>
          <p:nvPr/>
        </p:nvSpPr>
        <p:spPr>
          <a:xfrm>
            <a:off x="4892040" y="2971800"/>
            <a:ext cx="822960" cy="320040"/>
          </a:xfrm>
          <a:prstGeom prst="roundRect">
            <a:avLst>
              <a:gd name="adj" fmla="val 14286"/>
            </a:avLst>
          </a:prstGeom>
          <a:solidFill>
            <a:srgbClr val="3572A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92040" y="297180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Python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852160" y="2971800"/>
            <a:ext cx="2651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838"/>
                </a:solidFill>
              </a:rPr>
              <a:t>Tipos: </a:t>
            </a:r>
            <a:pPr indent="0" marL="0">
              <a:buNone/>
            </a:pPr>
            <a:r>
              <a:rPr lang="en-US" sz="1100" dirty="0">
                <a:solidFill>
                  <a:srgbClr val="1C7293"/>
                </a:solidFill>
              </a:rPr>
              <a:t>list[list[float]]
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B2838"/>
                </a:solidFill>
              </a:rPr>
              <a:t>Timer: </a:t>
            </a:r>
            <a:pPr indent="0" marL="0">
              <a:buNone/>
            </a:pPr>
            <a:r>
              <a:rPr lang="en-US" sz="1100" dirty="0">
                <a:solidFill>
                  <a:srgbClr val="1C7293"/>
                </a:solidFill>
              </a:rPr>
              <a:t>time.perf_counter()
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B2838"/>
                </a:solidFill>
              </a:rPr>
              <a:t>Archivo: </a:t>
            </a:r>
            <a:pPr indent="0" marL="0">
              <a:buNone/>
            </a:pPr>
            <a:r>
              <a:rPr lang="en-US" sz="1100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matrix_mult.py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73168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C729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B2838"/>
                </a:solidFill>
              </a:rPr>
              <a:t>Generador LCG Reproducible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8229600" cy="1188720"/>
          </a:xfrm>
          <a:prstGeom prst="roundRect">
            <a:avLst>
              <a:gd name="adj" fmla="val 7692"/>
            </a:avLst>
          </a:prstGeom>
          <a:solidFill>
            <a:srgbClr val="1B283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23444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 = state × 6364136223846793005 + 1442695040888963407
</a:t>
            </a:r>
            <a:pPr indent="0" marL="0">
              <a:buNone/>
            </a:pPr>
            <a:r>
              <a:rPr lang="en-US" sz="14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output = (state &gt;&gt; 33) % 10000 / 100.0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560320"/>
            <a:ext cx="4572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</a:rPr>
              <a:t>Semillas fijas
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1B2838"/>
                </a:solidFill>
              </a:rPr>
              <a:t>Matriz A: seed = 42
Matriz B: seed = 43 (seed + 1)
</a:t>
            </a:r>
            <a:endParaRPr lang="en-US" sz="1600" dirty="0"/>
          </a:p>
          <a:p>
            <a:pPr indent="0" marL="0">
              <a:buNone/>
            </a:pPr>
            <a:r>
              <a:rPr lang="en-US" sz="1400" b="1" dirty="0">
                <a:solidFill>
                  <a:srgbClr val="F96167"/>
                </a:solidFill>
              </a:rPr>
              <a:t>Mismas matrices en los 4 lenguajes
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1C7293"/>
                </a:solidFill>
              </a:rPr>
              <a:t>El generador LCG produce valores idénticos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1C7293"/>
                </a:solidFill>
              </a:rPr>
              <a:t>en C++, Go, Java y Python, garantizando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1C7293"/>
                </a:solidFill>
              </a:rPr>
              <a:t>que se multiplican las mismas matrices.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0" y="2560320"/>
            <a:ext cx="3200400" cy="411480"/>
          </a:xfrm>
          <a:prstGeom prst="roundRect">
            <a:avLst>
              <a:gd name="adj" fmla="val 11111"/>
            </a:avLst>
          </a:prstGeom>
          <a:solidFill>
            <a:srgbClr val="EAF0F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623560" y="256032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838"/>
                </a:solidFill>
              </a:rPr>
              <a:t>Valores: </a:t>
            </a:r>
            <a:pPr indent="0" marL="0">
              <a:buNone/>
            </a:pPr>
            <a:r>
              <a:rPr lang="en-US" sz="1200" dirty="0">
                <a:solidFill>
                  <a:srgbClr val="065A82"/>
                </a:solidFill>
              </a:rPr>
              <a:t>[0.00, 99.99]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0" y="3063240"/>
            <a:ext cx="3200400" cy="411480"/>
          </a:xfrm>
          <a:prstGeom prst="roundRect">
            <a:avLst>
              <a:gd name="adj" fmla="val 11111"/>
            </a:avLst>
          </a:prstGeom>
          <a:solidFill>
            <a:srgbClr val="EAF0F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23560" y="30632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838"/>
                </a:solidFill>
              </a:rPr>
              <a:t>Tamaños N: </a:t>
            </a:r>
            <a:pPr indent="0" marL="0">
              <a:buNone/>
            </a:pPr>
            <a:r>
              <a:rPr lang="en-US" sz="1200" dirty="0">
                <a:solidFill>
                  <a:srgbClr val="065A82"/>
                </a:solidFill>
              </a:rPr>
              <a:t>500, 1000, 1500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0" y="3566160"/>
            <a:ext cx="3200400" cy="411480"/>
          </a:xfrm>
          <a:prstGeom prst="roundRect">
            <a:avLst>
              <a:gd name="adj" fmla="val 11111"/>
            </a:avLst>
          </a:prstGeom>
          <a:solidFill>
            <a:srgbClr val="EAF0F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23560" y="356616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838"/>
                </a:solidFill>
              </a:rPr>
              <a:t>Repeticiones: </a:t>
            </a:r>
            <a:pPr indent="0" marL="0">
              <a:buNone/>
            </a:pPr>
            <a:r>
              <a:rPr lang="en-US" sz="1200" dirty="0">
                <a:solidFill>
                  <a:srgbClr val="065A82"/>
                </a:solidFill>
              </a:rPr>
              <a:t>10 por combinación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0" y="4069080"/>
            <a:ext cx="3200400" cy="411480"/>
          </a:xfrm>
          <a:prstGeom prst="roundRect">
            <a:avLst>
              <a:gd name="adj" fmla="val 11111"/>
            </a:avLst>
          </a:prstGeom>
          <a:solidFill>
            <a:srgbClr val="EAF0F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623560" y="406908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838"/>
                </a:solidFill>
              </a:rPr>
              <a:t>Total obs.: </a:t>
            </a:r>
            <a:pPr indent="0" marL="0">
              <a:buNone/>
            </a:pPr>
            <a:r>
              <a:rPr lang="en-US" sz="1200" dirty="0">
                <a:solidFill>
                  <a:srgbClr val="065A82"/>
                </a:solidFill>
              </a:rPr>
              <a:t>120 mediciones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73168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C729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37160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02</a:t>
            </a:r>
            <a:endParaRPr lang="en-US" sz="4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92608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Decisiones de Diseño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para Comparabilidad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09160"/>
            <a:ext cx="54864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838"/>
                </a:solidFill>
              </a:rPr>
              <a:t>Condiciones Comparables de Ejecución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560320" cy="329184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097280"/>
            <a:ext cx="2560320" cy="73152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94360" y="13258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5A82"/>
                </a:solidFill>
              </a:rPr>
              <a:t>Contenedores Docker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82880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838"/>
                </a:solidFill>
              </a:rPr>
              <a:t>Cada lenguaje se ejecuta en su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B2838"/>
                </a:solidFill>
              </a:rPr>
              <a:t>propia imagen oficial, aislando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B2838"/>
                </a:solidFill>
              </a:rPr>
              <a:t>dependencias y versiones.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94360" y="3108960"/>
            <a:ext cx="2286000" cy="1005840"/>
          </a:xfrm>
          <a:prstGeom prst="roundRect">
            <a:avLst>
              <a:gd name="adj" fmla="val 4545"/>
            </a:avLst>
          </a:prstGeom>
          <a:solidFill>
            <a:srgbClr val="EAF0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320040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gcc:13, golang:1.22,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eclipse-temurin:21,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python:3.12-slim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91840" y="1097280"/>
            <a:ext cx="2560320" cy="329184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91840" y="1097280"/>
            <a:ext cx="2560320" cy="73152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429000" y="13258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5A82"/>
                </a:solidFill>
              </a:rPr>
              <a:t>C++ sin optimización (-O0)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429000" y="182880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838"/>
                </a:solidFill>
              </a:rPr>
              <a:t>Se compila con -O0 para que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B2838"/>
                </a:solidFill>
              </a:rPr>
              <a:t>el compilador no optimice el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B2838"/>
                </a:solidFill>
              </a:rPr>
              <a:t>algoritmo naive.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429000" y="3108960"/>
            <a:ext cx="2286000" cy="1005840"/>
          </a:xfrm>
          <a:prstGeom prst="roundRect">
            <a:avLst>
              <a:gd name="adj" fmla="val 4545"/>
            </a:avLst>
          </a:prstGeom>
          <a:solidFill>
            <a:srgbClr val="EAF0F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566160" y="320040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Comparación justa del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algoritmo puro, no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 compilador.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126480" y="1097280"/>
            <a:ext cx="2560320" cy="329184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126480" y="1097280"/>
            <a:ext cx="2560320" cy="73152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263640" y="13258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5A82"/>
                </a:solidFill>
              </a:rPr>
              <a:t>Medición aíslada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263640" y="182880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838"/>
                </a:solidFill>
              </a:rPr>
              <a:t>Solo se cronometra la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B2838"/>
                </a:solidFill>
              </a:rPr>
              <a:t>multiplicación C=A×B.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B2838"/>
                </a:solidFill>
              </a:rPr>
              <a:t>La generación de matrices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B2838"/>
                </a:solidFill>
              </a:rPr>
              <a:t>se excluye.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263640" y="3108960"/>
            <a:ext cx="2286000" cy="1005840"/>
          </a:xfrm>
          <a:prstGeom prst="roundRect">
            <a:avLst>
              <a:gd name="adj" fmla="val 4545"/>
            </a:avLst>
          </a:prstGeom>
          <a:solidFill>
            <a:srgbClr val="EAF0F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00800" y="320040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Elimina varianza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por I/O y asignación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 memoria.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73168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C729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B2838"/>
                </a:solidFill>
              </a:rPr>
              <a:t>Pipeline y Formato de Salida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5A82"/>
                </a:solidFill>
              </a:rPr>
              <a:t>Pipeline Snakemake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1737360" cy="822960"/>
          </a:xfrm>
          <a:prstGeom prst="roundRect">
            <a:avLst>
              <a:gd name="adj" fmla="val 8889"/>
            </a:avLst>
          </a:prstGeom>
          <a:solidFill>
            <a:srgbClr val="065A8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57200" y="146304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Docker Build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240280" y="1783080"/>
            <a:ext cx="274320" cy="36576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7" name="Shape 5"/>
          <p:cNvSpPr/>
          <p:nvPr/>
        </p:nvSpPr>
        <p:spPr>
          <a:xfrm>
            <a:off x="2560320" y="1463040"/>
            <a:ext cx="1737360" cy="822960"/>
          </a:xfrm>
          <a:prstGeom prst="roundRect">
            <a:avLst>
              <a:gd name="adj" fmla="val 8889"/>
            </a:avLst>
          </a:prstGeom>
          <a:solidFill>
            <a:srgbClr val="065A8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2560320" y="146304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Benchmark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N=500,1000,1500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343400" y="1783080"/>
            <a:ext cx="274320" cy="36576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0" name="Shape 8"/>
          <p:cNvSpPr/>
          <p:nvPr/>
        </p:nvSpPr>
        <p:spPr>
          <a:xfrm>
            <a:off x="4663440" y="1463040"/>
            <a:ext cx="1737360" cy="822960"/>
          </a:xfrm>
          <a:prstGeom prst="roundRect">
            <a:avLst>
              <a:gd name="adj" fmla="val 8889"/>
            </a:avLst>
          </a:prstGeom>
          <a:solidFill>
            <a:srgbClr val="065A8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63440" y="146304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Merge CSVs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46520" y="1783080"/>
            <a:ext cx="274320" cy="36576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3" name="Shape 11"/>
          <p:cNvSpPr/>
          <p:nvPr/>
        </p:nvSpPr>
        <p:spPr>
          <a:xfrm>
            <a:off x="6766560" y="1463040"/>
            <a:ext cx="1737360" cy="822960"/>
          </a:xfrm>
          <a:prstGeom prst="roundRect">
            <a:avLst>
              <a:gd name="adj" fmla="val 8889"/>
            </a:avLst>
          </a:prstGeom>
          <a:solidFill>
            <a:srgbClr val="065A8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766560" y="146304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Análisis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Estadístico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2560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5A82"/>
                </a:solidFill>
              </a:rPr>
              <a:t>Formato CSV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457200" y="3017520"/>
            <a:ext cx="8229600" cy="1463040"/>
          </a:xfrm>
          <a:prstGeom prst="roundRect">
            <a:avLst>
              <a:gd name="adj" fmla="val 6250"/>
            </a:avLst>
          </a:prstGeom>
          <a:solidFill>
            <a:srgbClr val="1B283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31520" y="3108960"/>
            <a:ext cx="4572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language,N,repetition,time_seconds
</a:t>
            </a:r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cpp,500,1,2.051323
</a:t>
            </a:r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go,500,1,0.277601
</a:t>
            </a:r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java,500,1,0.216690
</a:t>
            </a:r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python,500,1,11.996717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5669280" y="310896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 columnas
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1C7293"/>
                </a:solidFill>
              </a:rPr>
              <a:t>language – N – repetition – time_seconds
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EAF0F6"/>
                </a:solidFill>
              </a:rPr>
              <a:t>120 observaciones totales
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EAF0F6"/>
                </a:solidFill>
              </a:rPr>
              <a:t>4 lenguajes × 3 tamaños × 10 reps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73168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C729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37160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03</a:t>
            </a:r>
            <a:endParaRPr lang="en-US" sz="4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92608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Entorno de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Ejecución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09160"/>
            <a:ext cx="54864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B2838"/>
                </a:solidFill>
              </a:rPr>
              <a:t>Características del Entorno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931920" cy="3291840"/>
          </a:xfrm>
          <a:prstGeom prst="roundRect">
            <a:avLst>
              <a:gd name="adj" fmla="val 2778"/>
            </a:avLst>
          </a:prstGeom>
          <a:solidFill>
            <a:srgbClr val="EAF0F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2344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5A82"/>
                </a:solidFill>
              </a:rPr>
              <a:t>Hardware / Sistema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69164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7293"/>
                </a:solidFill>
              </a:rPr>
              <a:t>Equipo
</a:t>
            </a:r>
            <a:pPr indent="0" marL="0">
              <a:buNone/>
            </a:pPr>
            <a:r>
              <a:rPr lang="en-US" sz="1300" b="1" dirty="0">
                <a:solidFill>
                  <a:srgbClr val="1B2838"/>
                </a:solidFill>
              </a:rPr>
              <a:t>Notebook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121408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7293"/>
                </a:solidFill>
              </a:rPr>
              <a:t>Procesador
</a:t>
            </a:r>
            <a:pPr indent="0" marL="0">
              <a:buNone/>
            </a:pPr>
            <a:r>
              <a:rPr lang="en-US" sz="1300" b="1" dirty="0">
                <a:solidFill>
                  <a:srgbClr val="1B2838"/>
                </a:solidFill>
              </a:rPr>
              <a:t>Intel Core i7-1255U @ 2.60 GHz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551176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7293"/>
                </a:solidFill>
              </a:rPr>
              <a:t>RAM
</a:t>
            </a:r>
            <a:pPr indent="0" marL="0">
              <a:buNone/>
            </a:pPr>
            <a:r>
              <a:rPr lang="en-US" sz="1300" b="1" dirty="0">
                <a:solidFill>
                  <a:srgbClr val="1B2838"/>
                </a:solidFill>
              </a:rPr>
              <a:t>16 GB DDR4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980944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7293"/>
                </a:solidFill>
              </a:rPr>
              <a:t>Sistema operativo
</a:t>
            </a:r>
            <a:pPr indent="0" marL="0">
              <a:buNone/>
            </a:pPr>
            <a:r>
              <a:rPr lang="en-US" sz="1300" b="1" dirty="0">
                <a:solidFill>
                  <a:srgbClr val="1B2838"/>
                </a:solidFill>
              </a:rPr>
              <a:t>Ubuntu 22.04.4 LTS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341071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7293"/>
                </a:solidFill>
              </a:rPr>
              <a:t>Arquitectura
</a:t>
            </a:r>
            <a:pPr indent="0" marL="0">
              <a:buNone/>
            </a:pPr>
            <a:r>
              <a:rPr lang="en-US" sz="1300" b="1" dirty="0">
                <a:solidFill>
                  <a:srgbClr val="1B2838"/>
                </a:solidFill>
              </a:rPr>
              <a:t>x86_64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384048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7293"/>
                </a:solidFill>
              </a:rPr>
              <a:t>Docker
</a:t>
            </a:r>
            <a:pPr indent="0" marL="0">
              <a:buNone/>
            </a:pPr>
            <a:r>
              <a:rPr lang="en-US" sz="1300" b="1" dirty="0">
                <a:solidFill>
                  <a:srgbClr val="1B2838"/>
                </a:solidFill>
              </a:rPr>
              <a:t>29.8.2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54880" y="1097280"/>
            <a:ext cx="3931920" cy="3291840"/>
          </a:xfrm>
          <a:prstGeom prst="roundRect">
            <a:avLst>
              <a:gd name="adj" fmla="val 2778"/>
            </a:avLst>
          </a:prstGeom>
          <a:solidFill>
            <a:srgbClr val="EAF0F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937760" y="12344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5A82"/>
                </a:solidFill>
              </a:rPr>
              <a:t>Imágenes Docker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4937760" y="1737360"/>
            <a:ext cx="356616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074920" y="173736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5A82"/>
                </a:solidFill>
              </a:rPr>
              <a:t>C++  </a:t>
            </a:r>
            <a:pPr indent="0" marL="0">
              <a:buNone/>
            </a:pPr>
            <a:r>
              <a:rPr lang="en-US" sz="1200" dirty="0">
                <a:solidFill>
                  <a:srgbClr val="1B28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gcc:13
</a:t>
            </a:r>
            <a:pPr indent="0" marL="0">
              <a:buNone/>
            </a:pPr>
            <a:r>
              <a:rPr lang="en-US" sz="1000" dirty="0">
                <a:solidFill>
                  <a:srgbClr val="1C7293"/>
                </a:solidFill>
              </a:rPr>
              <a:t>-O0 -std=c++17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937760" y="2377440"/>
            <a:ext cx="356616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074920" y="237744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5A82"/>
                </a:solidFill>
              </a:rPr>
              <a:t>Go  </a:t>
            </a:r>
            <a:pPr indent="0" marL="0">
              <a:buNone/>
            </a:pPr>
            <a:r>
              <a:rPr lang="en-US" sz="1200" dirty="0">
                <a:solidFill>
                  <a:srgbClr val="1B28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golang:1.22
</a:t>
            </a:r>
            <a:pPr indent="0" marL="0">
              <a:buNone/>
            </a:pPr>
            <a:r>
              <a:rPr lang="en-US" sz="1000" dirty="0">
                <a:solidFill>
                  <a:srgbClr val="1C7293"/>
                </a:solidFill>
              </a:rPr>
              <a:t>go build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937760" y="3017520"/>
            <a:ext cx="356616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074920" y="301752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5A82"/>
                </a:solidFill>
              </a:rPr>
              <a:t>Java  </a:t>
            </a:r>
            <a:pPr indent="0" marL="0">
              <a:buNone/>
            </a:pPr>
            <a:r>
              <a:rPr lang="en-US" sz="1200" dirty="0">
                <a:solidFill>
                  <a:srgbClr val="1B28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eclipse-temurin:21
</a:t>
            </a:r>
            <a:pPr indent="0" marL="0">
              <a:buNone/>
            </a:pPr>
            <a:r>
              <a:rPr lang="en-US" sz="1000" dirty="0">
                <a:solidFill>
                  <a:srgbClr val="1C7293"/>
                </a:solidFill>
              </a:rPr>
              <a:t>javac + java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937760" y="3657600"/>
            <a:ext cx="356616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074920" y="365760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5A82"/>
                </a:solidFill>
              </a:rPr>
              <a:t>Python  </a:t>
            </a:r>
            <a:pPr indent="0" marL="0">
              <a:buNone/>
            </a:pPr>
            <a:r>
              <a:rPr lang="en-US" sz="1200" dirty="0">
                <a:solidFill>
                  <a:srgbClr val="1B28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python:3.12-slim
</a:t>
            </a:r>
            <a:pPr indent="0" marL="0">
              <a:buNone/>
            </a:pPr>
            <a:r>
              <a:rPr lang="en-US" sz="1000" dirty="0">
                <a:solidFill>
                  <a:srgbClr val="1C7293"/>
                </a:solidFill>
              </a:rPr>
              <a:t>CPython puro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73168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C729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37160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04</a:t>
            </a:r>
            <a:endParaRPr lang="en-US" sz="4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92608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Primeros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Resultados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09160"/>
            <a:ext cx="54864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B2838"/>
                </a:solidFill>
              </a:rPr>
              <a:t>Estadísticas Descriptivas</a:t>
            </a:r>
            <a:endParaRPr lang="en-US" sz="36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194560"/>
                <a:gridCol w="2194560"/>
                <a:gridCol w="219456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Lenguaje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N=500</a:t>
                      </a:r>
                      <a:endParaRPr lang="en-US" sz="1100" dirty="0"/>
                    </a:p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(media ± std)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N=1000</a:t>
                      </a:r>
                      <a:endParaRPr lang="en-US" sz="1100" dirty="0"/>
                    </a:p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(media ± std)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N=1500</a:t>
                      </a:r>
                      <a:endParaRPr lang="en-US" sz="1100" dirty="0"/>
                    </a:p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(media ± std)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65A82"/>
                          </a:solidFill>
                        </a:rPr>
                        <a:t>Go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</a:rPr>
                        <a:t>0.32 ± 0.02 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</a:rPr>
                        <a:t>4.72 ± 0.08 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</a:rPr>
                        <a:t>21.42 ± 0.63 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65A82"/>
                          </a:solidFill>
                        </a:rPr>
                        <a:t>Java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</a:rPr>
                        <a:t>0.26 ± 0.03 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</a:rPr>
                        <a:t>4.65 ± 0.20 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</a:rPr>
                        <a:t>27.80 ± 0.34 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65A82"/>
                          </a:solidFill>
                        </a:rPr>
                        <a:t>C++ (-O0)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</a:rPr>
                        <a:t>2.73 ± 0.28 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</a:rPr>
                        <a:t>28.00 ± 0.37 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</a:rPr>
                        <a:t>97.83 ± 1.18 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96167"/>
                          </a:solidFill>
                        </a:rPr>
                        <a:t>Python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96167"/>
                          </a:solidFill>
                        </a:rPr>
                        <a:t>12.46 ± 0.26 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96167"/>
                          </a:solidFill>
                        </a:rPr>
                        <a:t>101.88 ± 1.82 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96167"/>
                          </a:solidFill>
                        </a:rPr>
                        <a:t>342.08 ± 4.55 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3291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</a:rPr>
              <a:t>Go y Java son los más rápidos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B2838"/>
                </a:solidFill>
              </a:rPr>
              <a:t> – rendimiento similar en N=500 y N=1000
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F96167"/>
                </a:solidFill>
              </a:rPr>
              <a:t>Python es ~16x más lento que Go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B2838"/>
                </a:solidFill>
              </a:rPr>
              <a:t> – la brecha crece con N
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</a:rPr>
              <a:t>C++ (-O0) queda en posición intermedia</a:t>
            </a:r>
            <a:pPr indent="0" marL="0">
              <a:buNone/>
            </a:pPr>
            <a:r>
              <a:rPr lang="en-US" sz="1200" dirty="0">
                <a:solidFill>
                  <a:srgbClr val="1B2838"/>
                </a:solidFill>
              </a:rPr>
              <a:t> – sin optimizaciones del compilador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73168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C729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838"/>
                </a:solidFill>
              </a:rPr>
              <a:t>Tiempo Medio por Lenguaje y Tamaño</a:t>
            </a:r>
            <a:endParaRPr lang="en-US" sz="34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005840"/>
          <a:ext cx="822960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73168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C729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838"/>
                </a:solidFill>
              </a:rPr>
              <a:t>Observaciones Clave (N=1500)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560320" cy="1828800"/>
          </a:xfrm>
          <a:prstGeom prst="roundRect">
            <a:avLst>
              <a:gd name="adj" fmla="val 5000"/>
            </a:avLst>
          </a:prstGeom>
          <a:solidFill>
            <a:srgbClr val="EAF0F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11887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96167"/>
                </a:solidFill>
              </a:rPr>
              <a:t>16x</a:t>
            </a:r>
            <a:endParaRPr lang="en-US" sz="5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9659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C7293"/>
                </a:solidFill>
              </a:rPr>
              <a:t>más lento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2860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838"/>
                </a:solidFill>
              </a:rPr>
              <a:t>Python vs Go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291840" y="1097280"/>
            <a:ext cx="2560320" cy="1828800"/>
          </a:xfrm>
          <a:prstGeom prst="roundRect">
            <a:avLst>
              <a:gd name="adj" fmla="val 5000"/>
            </a:avLst>
          </a:prstGeom>
          <a:solidFill>
            <a:srgbClr val="EAF0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291840" y="11887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065A82"/>
                </a:solidFill>
              </a:rPr>
              <a:t>4.6x</a:t>
            </a:r>
            <a:endParaRPr lang="en-US" sz="52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9659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C7293"/>
                </a:solidFill>
              </a:rPr>
              <a:t>más lento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3291840" y="22860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838"/>
                </a:solidFill>
              </a:rPr>
              <a:t>C++ (-O0) vs Go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126480" y="1097280"/>
            <a:ext cx="2560320" cy="1828800"/>
          </a:xfrm>
          <a:prstGeom prst="roundRect">
            <a:avLst>
              <a:gd name="adj" fmla="val 5000"/>
            </a:avLst>
          </a:prstGeom>
          <a:solidFill>
            <a:srgbClr val="EAF0F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126480" y="11887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1C7293"/>
                </a:solidFill>
              </a:rPr>
              <a:t>1.3x</a:t>
            </a:r>
            <a:endParaRPr lang="en-US" sz="5200" dirty="0"/>
          </a:p>
        </p:txBody>
      </p:sp>
      <p:sp>
        <p:nvSpPr>
          <p:cNvPr id="13" name="Text 11"/>
          <p:cNvSpPr txBox="1"/>
          <p:nvPr/>
        </p:nvSpPr>
        <p:spPr>
          <a:xfrm>
            <a:off x="6126480" y="19659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C7293"/>
                </a:solidFill>
              </a:rPr>
              <a:t>más lento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126480" y="22860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838"/>
                </a:solidFill>
              </a:rPr>
              <a:t>Java vs Go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20040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</a:rPr>
              <a:t>Baja variabilidad: </a:t>
            </a:r>
            <a:pPr indent="0" marL="0">
              <a:buNone/>
            </a:pPr>
            <a:r>
              <a:rPr lang="en-US" sz="1300" dirty="0">
                <a:solidFill>
                  <a:srgbClr val="1B2838"/>
                </a:solidFill>
              </a:rPr>
              <a:t>coeficientes de variación &lt; 5% en todos los lenguajes, indicando mediciones estables.
</a:t>
            </a:r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</a:rPr>
              <a:t>Escalamiento O(n³): </a:t>
            </a:r>
            <a:pPr indent="0" marL="0">
              <a:buNone/>
            </a:pPr>
            <a:r>
              <a:rPr lang="en-US" sz="1300" dirty="0">
                <a:solidFill>
                  <a:srgbClr val="1B2838"/>
                </a:solidFill>
              </a:rPr>
              <a:t>al triplicar N (500→1500), los tiempos crecen ~27x, consistente con la complejidad teórica.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73168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C729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37160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05</a:t>
            </a:r>
            <a:endParaRPr lang="en-US" sz="4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92608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Análisis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Estadístico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09160"/>
            <a:ext cx="54864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838"/>
                </a:solidFill>
              </a:rPr>
              <a:t>Comparación de Tiempos Promedio</a:t>
            </a:r>
            <a:endParaRPr lang="en-US" sz="3400" dirty="0"/>
          </a:p>
        </p:txBody>
      </p:sp>
      <p:pic>
        <p:nvPicPr>
          <p:cNvPr id="3" name="Image 0" descr="/home/claude/matrix-benchmark/results/bar_chart_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914400"/>
            <a:ext cx="8595360" cy="37490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73168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C729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838"/>
                </a:solidFill>
              </a:rPr>
              <a:t>Distribución de Tiempos (Boxplot)</a:t>
            </a:r>
            <a:endParaRPr lang="en-US" sz="3400" dirty="0"/>
          </a:p>
        </p:txBody>
      </p:sp>
      <p:pic>
        <p:nvPicPr>
          <p:cNvPr id="3" name="Image 0" descr="/home/claude/matrix-benchmark/results/boxplot_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" y="914400"/>
            <a:ext cx="8778240" cy="32004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1605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65A82"/>
                </a:solidFill>
              </a:rPr>
              <a:t>Baja dispersión </a:t>
            </a:r>
            <a:pPr indent="0" marL="0">
              <a:buNone/>
            </a:pPr>
            <a:r>
              <a:rPr lang="en-US" sz="1200" dirty="0">
                <a:solidFill>
                  <a:srgbClr val="1B2838"/>
                </a:solidFill>
              </a:rPr>
              <a:t>en todos los lenguajes (CV &lt; 5%). Las medianas son representativas de cada grupo.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73168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C729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838"/>
                </a:solidFill>
              </a:rPr>
              <a:t>Interacción: Lenguaje × Tamaño</a:t>
            </a:r>
            <a:endParaRPr lang="en-US" sz="3400" dirty="0"/>
          </a:p>
        </p:txBody>
      </p:sp>
      <p:pic>
        <p:nvPicPr>
          <p:cNvPr id="3" name="Image 0" descr="/home/claude/matrix-benchmark/results/interaction_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868680"/>
            <a:ext cx="8229600" cy="37490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73168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C729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838"/>
                </a:solidFill>
              </a:rPr>
              <a:t>Mapa de Calor y Speedup vs Python</a:t>
            </a:r>
            <a:endParaRPr lang="en-US" sz="3400" dirty="0"/>
          </a:p>
        </p:txBody>
      </p:sp>
      <p:pic>
        <p:nvPicPr>
          <p:cNvPr id="3" name="Image 0" descr="/home/claude/matrix-benchmark/results/heatmap_tim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868680"/>
            <a:ext cx="4389120" cy="3749040"/>
          </a:xfrm>
          <a:prstGeom prst="rect">
            <a:avLst/>
          </a:prstGeom>
        </p:spPr>
      </p:pic>
      <p:pic>
        <p:nvPicPr>
          <p:cNvPr id="4" name="Image 1" descr="/home/claude/matrix-benchmark/results/speedup_char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868680"/>
            <a:ext cx="4480560" cy="37490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73168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C729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838"/>
                </a:solidFill>
              </a:rPr>
              <a:t>ANOVA de Dos Factores con Interacción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C7293"/>
                </a:solidFill>
              </a:rPr>
              <a:t>H₀: El lenguaje no produce diferencias significativas en el tiempo de ejecución</a:t>
            </a:r>
            <a:endParaRPr lang="en-US" sz="13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Factor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F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p-valor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Significancia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2838"/>
                          </a:solidFill>
                        </a:rPr>
                        <a:t>Lenguaje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</a:rPr>
                        <a:t>62,317.49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</a:rPr>
                        <a:t>1.09 × 10⁻¹⁷⁴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96167"/>
                          </a:solidFill>
                        </a:rPr>
                        <a:t>***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2838"/>
                          </a:solidFill>
                        </a:rPr>
                        <a:t>Tamaño (N)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</a:rPr>
                        <a:t>68,794.05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</a:rPr>
                        <a:t>2.01 × 10⁻¹⁶⁸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96167"/>
                          </a:solidFill>
                        </a:rPr>
                        <a:t>***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2838"/>
                          </a:solidFill>
                        </a:rPr>
                        <a:t>Lenguaje × Tamaño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</a:rPr>
                        <a:t>25,489.80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</a:rPr>
                        <a:t>1.03 × 10⁻¹⁶⁷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96167"/>
                          </a:solidFill>
                        </a:rPr>
                        <a:t>***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6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3291840"/>
            <a:ext cx="8229600" cy="1188720"/>
          </a:xfrm>
          <a:prstGeom prst="roundRect">
            <a:avLst>
              <a:gd name="adj" fmla="val 7692"/>
            </a:avLst>
          </a:prstGeom>
          <a:solidFill>
            <a:srgbClr val="EAF0F6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40080" y="3383280"/>
            <a:ext cx="7863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96167"/>
                </a:solidFill>
              </a:rPr>
              <a:t>Resultado: Se rechaza H₀
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1B2838"/>
                </a:solidFill>
              </a:rPr>
              <a:t>Los tres factores (lenguaje, tamaño y su interacción) son altamente significativos (p &lt; 0.001).
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1C7293"/>
                </a:solidFill>
              </a:rPr>
              <a:t>La interacción confirma que el efecto del lenguaje depende del tamaño de la matriz.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73168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C729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838"/>
                </a:solidFill>
              </a:rPr>
              <a:t>Comparaciones Post-hoc: Tukey HSD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</a:rPr>
              <a:t>Comparaciones por pares (colapsando tamaño)</a:t>
            </a:r>
            <a:endParaRPr lang="en-US" sz="14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82296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828800"/>
                <a:gridCol w="2011680"/>
                <a:gridCol w="21031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Comparación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Diferencia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p-adj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¿Significativo?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838"/>
                          </a:solidFill>
                        </a:rPr>
                        <a:t>C++ vs Go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838"/>
                          </a:solidFill>
                        </a:rPr>
                        <a:t>−34.03 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838"/>
                          </a:solidFill>
                        </a:rPr>
                        <a:t>0.2887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ECC71"/>
                          </a:solidFill>
                        </a:rPr>
                        <a:t>No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838"/>
                          </a:solidFill>
                        </a:rPr>
                        <a:t>C++ vs Java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838"/>
                          </a:solidFill>
                        </a:rPr>
                        <a:t>−31.95 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838"/>
                          </a:solidFill>
                        </a:rPr>
                        <a:t>0.3442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ECC71"/>
                          </a:solidFill>
                        </a:rPr>
                        <a:t>No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838"/>
                          </a:solidFill>
                        </a:rPr>
                        <a:t>Go vs Java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838"/>
                          </a:solidFill>
                        </a:rPr>
                        <a:t>2.08 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838"/>
                          </a:solidFill>
                        </a:rPr>
                        <a:t>0.9995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ECC71"/>
                          </a:solidFill>
                        </a:rPr>
                        <a:t>No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838"/>
                          </a:solidFill>
                        </a:rPr>
                        <a:t>C++ vs Python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96167"/>
                          </a:solidFill>
                        </a:rPr>
                        <a:t>+109.29 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96167"/>
                          </a:solidFill>
                        </a:rPr>
                        <a:t>&lt; 0.001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96167"/>
                          </a:solidFill>
                        </a:rPr>
                        <a:t>Sí ***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838"/>
                          </a:solidFill>
                        </a:rPr>
                        <a:t>Go vs Python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96167"/>
                          </a:solidFill>
                        </a:rPr>
                        <a:t>+143.32 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96167"/>
                          </a:solidFill>
                        </a:rPr>
                        <a:t>&lt; 0.001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96167"/>
                          </a:solidFill>
                        </a:rPr>
                        <a:t>Sí ***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838"/>
                          </a:solidFill>
                        </a:rPr>
                        <a:t>Java vs Python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96167"/>
                          </a:solidFill>
                        </a:rPr>
                        <a:t>+141.24 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96167"/>
                          </a:solidFill>
                        </a:rPr>
                        <a:t>&lt; 0.001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96167"/>
                          </a:solidFill>
                        </a:rPr>
                        <a:t>Sí ***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365760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EAF0F6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40080" y="370332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</a:rPr>
              <a:t>C++, Go y Java </a:t>
            </a:r>
            <a:pPr indent="0" marL="0">
              <a:buNone/>
            </a:pPr>
            <a:r>
              <a:rPr lang="en-US" sz="1300" dirty="0">
                <a:solidFill>
                  <a:srgbClr val="1B2838"/>
                </a:solidFill>
              </a:rPr>
              <a:t>no presentan diferencias significativas entre sí (colapsando N).
</a:t>
            </a:r>
            <a:pPr indent="0" marL="0">
              <a:buNone/>
            </a:pPr>
            <a:r>
              <a:rPr lang="en-US" sz="1400" b="1" dirty="0">
                <a:solidFill>
                  <a:srgbClr val="F96167"/>
                </a:solidFill>
              </a:rPr>
              <a:t>Python </a:t>
            </a:r>
            <a:pPr indent="0" marL="0">
              <a:buNone/>
            </a:pPr>
            <a:r>
              <a:rPr lang="en-US" sz="1300" dirty="0">
                <a:solidFill>
                  <a:srgbClr val="1B2838"/>
                </a:solidFill>
              </a:rPr>
              <a:t>es significativamente más lento que todos los demás (p &lt; 0.001).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73168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C729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Conclusiones y Próximos Pasos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39319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7293"/>
                </a:solidFill>
              </a:rPr>
              <a:t>Conclusiones
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Se rechaza H₀: el lenguaje sí
produce diferencias significativas
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C++, Go y Java forman un grupo
homogéneo (Tukey p &gt; 0.05)
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rgbClr val="EAF0F6"/>
                </a:solidFill>
              </a:rPr>
              <a:t>Python es significativamente más
lento que los tres (p &lt; 0.001)
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rgbClr val="EAF0F6"/>
                </a:solidFill>
              </a:rPr>
              <a:t>La interacción lenguaje × tamaño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rgbClr val="EAF0F6"/>
                </a:solidFill>
              </a:rPr>
              <a:t>es significativa: la brecha crece con N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4754880" y="1188720"/>
            <a:ext cx="39319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7293"/>
                </a:solidFill>
              </a:rPr>
              <a:t>Hallazgos clave
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ANOVA: F(lenguaje) = 62,317
p &lt; 10⁻¹⁷⁴
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Speedup Go vs Python:
39x (N=500) → 16x (N=1500)
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rgbClr val="EAF0F6"/>
                </a:solidFill>
              </a:rPr>
              <a:t>Baja variabilidad (CV &lt; 5%)
confirma estabilidad experimental
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rgbClr val="EAF0F6"/>
                </a:solidFill>
              </a:rPr>
              <a:t>120 observaciones reproducibles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rgbClr val="EAF0F6"/>
                </a:solidFill>
              </a:rPr>
              <a:t>(Docker + LCG + semilla fija)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09160"/>
            <a:ext cx="54864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enchmark Matrices USACH">
  <a:themeElements>
    <a:clrScheme name="Benchmark Matrices USACH">
      <a:dk1>
        <a:srgbClr val="1B2838"/>
      </a:dk1>
      <a:lt1>
        <a:srgbClr val="FFFFFF"/>
      </a:lt1>
      <a:dk2>
        <a:srgbClr val="3A5A7C"/>
      </a:dk2>
      <a:lt2>
        <a:srgbClr val="EAF0F6"/>
      </a:lt2>
      <a:accent1>
        <a:srgbClr val="065A82"/>
      </a:accent1>
      <a:accent2>
        <a:srgbClr val="1C7293"/>
      </a:accent2>
      <a:accent3>
        <a:srgbClr val="21295C"/>
      </a:accent3>
      <a:accent4>
        <a:srgbClr val="F96167"/>
      </a:accent4>
      <a:accent5>
        <a:srgbClr val="2ECC71"/>
      </a:accent5>
      <a:accent6>
        <a:srgbClr val="E67E22"/>
      </a:accent6>
      <a:hlink>
        <a:srgbClr val="065A82"/>
      </a:hlink>
      <a:folHlink>
        <a:srgbClr val="3A5A7C"/>
      </a:folHlink>
    </a:clrScheme>
    <a:fontScheme name="Benchmark Matrices USACH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Benchmark Multiplicacion de Matrices</dc:subject>
  <dc:creator>Jorge Fornes - USACH</dc:creator>
  <cp:lastModifiedBy>Jorge Fornes - USACH</cp:lastModifiedBy>
  <cp:revision>1</cp:revision>
  <dcterms:created xsi:type="dcterms:W3CDTF">2026-10-19T15:28:51Z</dcterms:created>
  <dcterms:modified xsi:type="dcterms:W3CDTF">2026-10-19T15:28:51Z</dcterms:modified>
</cp:coreProperties>
</file>