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fa154510-6b5f-2bf1-7375-79e195144455}">
          <p14:sldIdLst>
            <p14:sldId id="256"/>
          </p14:sldIdLst>
        </p14:section>
        <p14:section name="Agenda" id="{cd590c38-ab10-c0d4-07a7-ea678a699dd2}">
          <p14:sldIdLst>
            <p14:sldId id="257"/>
          </p14:sldIdLst>
        </p14:section>
        <p14:section name="Resumen Semana 1" id="{57e7d845-e287-4d91-1ed5-ab38205d67a3}">
          <p14:sldIdLst>
            <p14:sldId id="258"/>
            <p14:sldId id="259"/>
            <p14:sldId id="260"/>
          </p14:sldIdLst>
        </p14:section>
        <p14:section name="Implementaciones" id="{94dad6c7-71d5-311d-16a3-4ce5c0797d3a}">
          <p14:sldIdLst>
            <p14:sldId id="261"/>
            <p14:sldId id="262"/>
            <p14:sldId id="263"/>
            <p14:sldId id="264"/>
          </p14:sldIdLst>
        </p14:section>
        <p14:section name="Decisiones de Diseno" id="{75dd5181-7add-d02a-e4de-2e3ddeace8dc}">
          <p14:sldIdLst>
            <p14:sldId id="265"/>
            <p14:sldId id="266"/>
            <p14:sldId id="267"/>
          </p14:sldIdLst>
        </p14:section>
        <p14:section name="Entorno" id="{827eeb0f-2b79-7b63-20c0-f3bd509203c7}">
          <p14:sldIdLst>
            <p14:sldId id="268"/>
            <p14:sldId id="269"/>
          </p14:sldIdLst>
        </p14:section>
        <p14:section name="Resultados" id="{c50dac63-d7e1-85dd-78aa-bbfdec595b16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onclusiones" id="{d608aa8f-d77a-c0d9-8f4c-3f963d064ae0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C++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N=500</c:v>
                  </c:pt>
                  <c:pt idx="1">
                    <c:v>N=1000</c:v>
                  </c:pt>
                  <c:pt idx="2">
                    <c:v>N=1500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2.73</c:v>
                </c:pt>
                <c:pt idx="1">
                  <c:v>28</c:v>
                </c:pt>
                <c:pt idx="2">
                  <c:v>97.83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</c:v>
                </c:pt>
              </c:strCache>
            </c:strRef>
          </c:tx>
          <c:spPr>
            <a:solidFill>
              <a:srgbClr val="00A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N=500</c:v>
                  </c:pt>
                  <c:pt idx="1">
                    <c:v>N=1000</c:v>
                  </c:pt>
                  <c:pt idx="2">
                    <c:v>N=1500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0.32</c:v>
                </c:pt>
                <c:pt idx="1">
                  <c:v>4.72</c:v>
                </c:pt>
                <c:pt idx="2">
                  <c:v>21.42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Java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N=500</c:v>
                  </c:pt>
                  <c:pt idx="1">
                    <c:v>N=1000</c:v>
                  </c:pt>
                  <c:pt idx="2">
                    <c:v>N=1500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0.26</c:v>
                </c:pt>
                <c:pt idx="1">
                  <c:v>4.65</c:v>
                </c:pt>
                <c:pt idx="2">
                  <c:v>27.8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N=500</c:v>
                  </c:pt>
                  <c:pt idx="1">
                    <c:v>N=1000</c:v>
                  </c:pt>
                  <c:pt idx="2">
                    <c:v>N=1500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12.46</c:v>
                </c:pt>
                <c:pt idx="1">
                  <c:v>101.88</c:v>
                </c:pt>
                <c:pt idx="2">
                  <c:v>342.08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8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C729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C7293"/>
                    </a:solidFill>
                    <a:latin typeface="Arial"/>
                  </a:rPr>
                  <a:t>Tiempo (segundos)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729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objetivo: implementar multiplicación naive de matrices en 4 lenguajes y obtener primeros resultados de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los temas a cubrir en esta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diseño experimental definido en Semana 1: pregunta, hipótesis, variables y plan de 120 observaciones.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Repositorio creado en GitHub con README.md que documenta el diseño experimental, siguiendo ACM Artifact Review &amp; Badging.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Algoritmo naive: triple bucle, sin optimizaciones. El mismo algoritmo se implementa de forma idéntica en los 4 lenguajes.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implementación usa el mismo algoritmo naive con triple bucle. Las diferencias son sintácticas.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generador lineal congruencial (LCG) asegura reproducibilidad: mismas semillas = mismas matrices = mismos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decisiones clave: Docker para aislamiento, -O0 para no beneficiar a C++, y medir solo la multiplicación.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Snakemake automatiza todo el pipeline. El formato CSV estándar con 4 columnas facilita el análisis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Documentar el entorno es clave para la reproducibilidad. Imágenes Docker oficiales con versiones fijas.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resumen de estadísticas descriptivas. Go y Java lideran, Python es el más lento. C++ con -O0 no puede optimizar.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barras agrupado mostrando tiempos medios. Python domina visualmente por sus tiempos mucho mayores.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Ratios de rendimiento para N=1500. La baja variabilidad confirma que el experimento es 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Boxplots separados por tamaño de matriz. Se observa baja variabilidad y outliers mínimos.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curvas NO son paralelas: la brecha entre Python y los demás se amplifica con N. Esto sugiere interacción entre factores, a confirmar con ANOVA en Semana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Izquierda: mapa de calor con tiempos absolutos. Derecha: speedup relativo a Python. Go y Java superan ampliamente a Python en todos los tamaños.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barras con barras de error (media ± desviación estándar). La baja dispersión confirma estabilidad experimental.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descriptivas y próximos pasos: ANOVA y Tukey HSD se aplicarán en Semana 4 para confirmar estadísticamente las diferencias observadas.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822960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Universidad de Santiago de Chile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Semana 2 – Benchmark Matrices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0"/>
            <a:ext cx="274320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</a:rPr>
              <a:t>Semana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Implementación y Ejecución
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del Experimento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</a:rPr>
              <a:t>Benchmark Reproducible de Multiplicación de Matrices NxN
</a:t>
            </a:r>
            <a:pPr indent="0" marL="0">
              <a:buNone/>
            </a:pPr>
            <a:r>
              <a:rPr lang="en-US" sz="1400" dirty="0">
                <a:solidFill>
                  <a:srgbClr val="EAF0F6"/>
                </a:solidFill>
              </a:rPr>
              <a:t>C++ · Go · Java · Python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051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</a:rPr>
              <a:t>Resumen Semana 1
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Diseño experimental, repositorio GitHub y README.md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01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</a:rPr>
              <a:t>Algoritmo e Implementaciones
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Multiplicación naive O(n³) en 4 lenguajes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5117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</a:rPr>
              <a:t>Decisiones de Diseño
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Condiciones comparables: Docker, LCG, -O0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0098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</a:rPr>
              <a:t>Entorno de Ejecución
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Características del hardware y software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5079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</a:rPr>
              <a:t>Primeros Resultados
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Estadísticas descriptivas, gráficos y observaciones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Resumen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Semana 1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Diseño Experimental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F0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Pregunta de investigación
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B2838"/>
                </a:solidFill>
              </a:rPr>
              <a:t>¿Existen diferencias estadísticamente significativas en el tiempo de ejecución del algoritmo naive de multiplicación de matrices NxN entre implementaciones equivalentes en C++, Go, Java y Python?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Hipótesis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H₀: </a:t>
            </a:r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</a:rPr>
              <a:t>El lenguaje no produce diferencias significativas en el tiempo de ejecución.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H₁: </a:t>
            </a:r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</a:rPr>
              <a:t>Al menos un lenguaje presenta un tiempo significativamente diferente.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19456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Valores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</a:rPr>
                        <a:t>Lenguaje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Independiente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C++, Go, Java, Python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</a:rPr>
                        <a:t>Tamaño (N)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Independiente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500, 1000, 1500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</a:rPr>
                        <a:t>Tiempo (s)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Dependiente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Segundos (float)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</a:rPr>
                        <a:t>Repeticiones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10 por combinación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</a:rPr>
                        <a:t>Semilla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</a:rPr>
                        <a:t>42 (fija)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6"/>
                </a:solidFill>
              </a:rPr>
              <a:t>Total de observaciones: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lenguajes × 3 tamaños × 10 repeticiones = 120 mediciones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Repositorio GitHub y Estructura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github.com/jffp-alt/matrix-benchmark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1B28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matrix-benchmark/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LICENSE (MIT)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FAIR_datasheet.md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Snakefile
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implementations/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cpp/ go/ java/ python/
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analysis/
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results/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6916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README.md incluye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• Pregunta de investigación e hipótesis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• Variables y diseño experimental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• Instrucciones de reproducción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• Entorno de ejecución documentado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• Formato de resultados CSV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• Criterios ACM Artifact Review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Marco de referencia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ACM Artifact Review &amp; Badging
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Functional → Reusable → Available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Algoritmo 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Implementaciones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Multiplicación Naive O(n³)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Algoritmo clásico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</a:rPr>
              <a:t>Triple bucle anidado que computa cada
elemento C[i][j] como el producto punto
de la fila i de A y la columna j de B.
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Complejidad: O(n³)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Sin optimizaciones de cache, SIMD,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ni paralelismo.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4688"/>
            </a:avLst>
          </a:prstGeom>
          <a:solidFill>
            <a:srgbClr val="1B2838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937760" y="13716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0 to n-1:
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j ← 0 to n-1:
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C[i][j] ← 0
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← 0 to n-1:
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C[i][j] += A[i][k]*B[k][j]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F6"/>
                </a:solidFill>
              </a:rPr>
              <a:t>Pseudocódigo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4 Lenguajes, 1 Algoritmo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344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C++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2344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Tipos: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vector&lt;vector&lt;double&gt;&gt;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Timer: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chrono::high_resolution_clock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Archivo: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matrix_mult.cpp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12344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0AD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2344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Tipos: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[][]float64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Timer: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time.Now() / time.Since()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Archivo: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matrix_mult.go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9718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Tipos: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double[][]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Timer: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System.nanoTime()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Archivo: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MatrixMult.java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9718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3572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971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Tipos: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list[list[float]]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Timer: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time.perf_counter()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</a:rPr>
              <a:t>Archivo: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matrix_mult.py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Generador LCG Reproducible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state × 6364136223846793005 + 1442695040888963407
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(state &gt;&gt; 33) % 10000 / 100.0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Semillas fijas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</a:rPr>
              <a:t>Matriz A: seed = 42
Matriz B: seed = 43 (seed + 1)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Mismas matrices en los 4 lenguajes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El generador LCG produce valores idénticos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en C++, Go, Java y Python, garantizando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que se multiplican las mismas matrices.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256032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235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</a:rPr>
              <a:t>Valores: </a:t>
            </a:r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[0.00, 99.99]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306324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2356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</a:rPr>
              <a:t>Tamaños N: </a:t>
            </a:r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500, 1000, 1500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356616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</a:rPr>
              <a:t>Repeticiones: </a:t>
            </a:r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10 por combinación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406908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2356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</a:rPr>
              <a:t>Total obs.: </a:t>
            </a:r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120 mediciones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03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Decisiones de Diseño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 Comparabilidad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Condiciones Comparables de Ejecución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Contenedores Docker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Cada lenguaje se ejecuta en su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propia imagen oficial, aislando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dependencias y versiones.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EAF0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gcc:13, golang:1.22,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eclipse-temurin:21,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python:3.12-slim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C++ sin optimización (-O0)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Se compila con -O0 para 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el compilador no optimice 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algoritmo naive.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310896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EAF0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Comparación justa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puro,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compilador.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Medición aíslada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Solo se cronometra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multiplicación C=A×B.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La generación de matrices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se excluye.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EAF0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 varianza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I/O y asignación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memoria.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Pipeline y Formato de Salida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Pipeline Snakemake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783080"/>
            <a:ext cx="2743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4630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Benchmark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N=500,1000,1500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2743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4630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Merge CSVs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2743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0" y="14630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Análisis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Estadístico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Formato CSV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B28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108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language,N,repetition,time_seconds
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cpp,500,1,2.051323
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go,500,1,0.277601
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java,500,1,0.216690
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python,500,1,11.996717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108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columnas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language – N – repetition – time_seconds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120 observaciones totales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AF0F6"/>
                </a:solidFill>
              </a:rPr>
              <a:t>4 lenguajes × 3 tamaños × 10 reps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04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Entorno de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Ejecución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Características del Entorno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AF0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Hardware / Sistema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Equipo
</a:t>
            </a:r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</a:rPr>
              <a:t>Notebook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Procesador
</a:t>
            </a:r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</a:rPr>
              <a:t>Intel Core i7-1255U @ 2.60 GHz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51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RAM
</a:t>
            </a:r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</a:rPr>
              <a:t>16 GB DDR4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809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Sistema operativo
</a:t>
            </a:r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</a:rPr>
              <a:t>Ubuntu 22.04.4 LTS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10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Arquitectura
</a:t>
            </a:r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</a:rPr>
              <a:t>x86_64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Docker
</a:t>
            </a:r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</a:rPr>
              <a:t>29.8.2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AF0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Imágenes Docker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1737360"/>
            <a:ext cx="35661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74920" y="1737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C++  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gcc:13
</a:t>
            </a:r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-O0 -std=c++17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35661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Go  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golang:1.22
</a:t>
            </a:r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go build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3017520"/>
            <a:ext cx="35661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Java  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eclipse-temurin:21
</a:t>
            </a:r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javac + java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657600"/>
            <a:ext cx="35661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7492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Python  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python:3.12-slim
</a:t>
            </a:r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CPython puro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05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Primeros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Resultados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</a:rPr>
              <a:t>Estadísticas Descriptivas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Lenguaje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N=500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(media ± std)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N=1000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(media ± std)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N=1500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(media ± std)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Go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0.32 ± 0.02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4.72 ± 0.08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21.42 ± 0.63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Java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0.26 ± 0.03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4.65 ± 0.20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27.80 ± 0.34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C++ (-O0)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2.73 ± 0.28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28.00 ± 0.37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</a:rPr>
                        <a:t>97.83 ± 1.18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</a:rPr>
                        <a:t>12.46 ± 0.26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</a:rPr>
                        <a:t>101.88 ± 1.82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</a:rPr>
                        <a:t>342.08 ± 4.55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Go y Java son los más rápidos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 – rendimiento similar en N=500 y N=1000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Python es ~16x más lento que Go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 – la brecha crece con N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C++ (-O0) queda en posición intermedia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 – sin optimizaciones del compilador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Tiempo Medio por Lenguaje y Tamaño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Observaciones Clave (N=1500)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</a:rPr>
              <a:t>16x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más lento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</a:rPr>
              <a:t>Python vs Go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</a:rPr>
              <a:t>4.6x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más lento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</a:rPr>
              <a:t>C++ (-O0) vs Go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</a:rPr>
              <a:t>1.3x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más lento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</a:rPr>
              <a:t>Java vs 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Baja variabilidad: </a:t>
            </a:r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</a:rPr>
              <a:t>coeficientes de variación &lt; 5% en todos los lenguajes, indicando mediciones estables.
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Escalamiento O(n³): </a:t>
            </a:r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</a:rPr>
              <a:t>al triplicar N (500→1500), los tiempos crecen ~27x, consistente con la complejidad teórica.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Distribución de Tiempos (Boxplot)</a:t>
            </a:r>
            <a:endParaRPr lang="en-US" sz="3400" dirty="0"/>
          </a:p>
        </p:txBody>
      </p:sp>
      <p:pic>
        <p:nvPicPr>
          <p:cNvPr id="3" name="Image 0" descr="/home/claude/matrix-benchmark/results/boxplo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877824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Baja dispersión 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</a:rPr>
              <a:t>en todos los lenguajes (CV &lt; 5%). Las medianas son representativas de cada grupo.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Interacción: Lenguaje × Tamaño</a:t>
            </a:r>
            <a:endParaRPr lang="en-US" sz="3400" dirty="0"/>
          </a:p>
        </p:txBody>
      </p:sp>
      <p:pic>
        <p:nvPicPr>
          <p:cNvPr id="3" name="Image 0" descr="/home/claude/matrix-benchmark/results/interacti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822960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Mapa de Calor y Speedup vs Python</a:t>
            </a:r>
            <a:endParaRPr lang="en-US" sz="3400" dirty="0"/>
          </a:p>
        </p:txBody>
      </p:sp>
      <p:pic>
        <p:nvPicPr>
          <p:cNvPr id="3" name="Image 0" descr="/home/claude/matrix-benchmark/results/heatmap_t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68680"/>
            <a:ext cx="4389120" cy="3749040"/>
          </a:xfrm>
          <a:prstGeom prst="rect">
            <a:avLst/>
          </a:prstGeom>
        </p:spPr>
      </p:pic>
      <p:pic>
        <p:nvPicPr>
          <p:cNvPr id="4" name="Image 1" descr="/home/claude/matrix-benchmark/results/speedup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8680"/>
            <a:ext cx="448056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</a:rPr>
              <a:t>Comparación de Tiempos con Barras de Error</a:t>
            </a:r>
            <a:endParaRPr lang="en-US" sz="3400" dirty="0"/>
          </a:p>
        </p:txBody>
      </p:sp>
      <p:pic>
        <p:nvPicPr>
          <p:cNvPr id="3" name="Image 0" descr="/home/claude/matrix-benchmark/results/bar_char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C72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Conclusiones y Próximos Pasos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Hallazgos descriptivos
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 y Java son los más rápidos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con rendimiento similar en todos los N
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C++ (-O0) queda en posición intermedia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penalizado por la ausencia de
optimizaciones del compilador
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es consistentemente el más lento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hasta 16x más lento que Go en N=1500
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Baja variabilidad (CV &lt; 5%)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confirma estabilidad experimental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Próximos pasos (Semana 4)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ANOVA de dos factores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Evaluar si las diferencias observadas
son estadísticamente significativas,
considerando lenguaje, tamaño de
matriz y su interacción.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Tukey HSD post-hoc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Identificar cuáles pares de lenguajes
presentan diferencias significativas
y cuáles forman grupos homogéneos.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Automatización con Snakemake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</a:rPr>
              <a:t>Pipeline completo end-to-end.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mark Matrices USACH">
  <a:themeElements>
    <a:clrScheme name="Benchmark Matrices USACH">
      <a:dk1>
        <a:srgbClr val="1B2838"/>
      </a:dk1>
      <a:lt1>
        <a:srgbClr val="FFFFFF"/>
      </a:lt1>
      <a:dk2>
        <a:srgbClr val="3A5A7C"/>
      </a:dk2>
      <a:lt2>
        <a:srgbClr val="EAF0F6"/>
      </a:lt2>
      <a:accent1>
        <a:srgbClr val="065A82"/>
      </a:accent1>
      <a:accent2>
        <a:srgbClr val="1C7293"/>
      </a:accent2>
      <a:accent3>
        <a:srgbClr val="21295C"/>
      </a:accent3>
      <a:accent4>
        <a:srgbClr val="F96167"/>
      </a:accent4>
      <a:accent5>
        <a:srgbClr val="2ECC71"/>
      </a:accent5>
      <a:accent6>
        <a:srgbClr val="E67E22"/>
      </a:accent6>
      <a:hlink>
        <a:srgbClr val="065A82"/>
      </a:hlink>
      <a:folHlink>
        <a:srgbClr val="3A5A7C"/>
      </a:folHlink>
    </a:clrScheme>
    <a:fontScheme name="Benchmark Matrices USA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Benchmark Multiplicacion de Matrices - Semana 2</dc:subject>
  <dc:creator>Jorge Fornes - USACH</dc:creator>
  <cp:lastModifiedBy>Jorge Fornes - USACH</cp:lastModifiedBy>
  <cp:revision>1</cp:revision>
  <dcterms:created xsi:type="dcterms:W3CDTF">2026-10-19T15:45:38Z</dcterms:created>
  <dcterms:modified xsi:type="dcterms:W3CDTF">2026-10-19T15:45:38Z</dcterms:modified>
</cp:coreProperties>
</file>