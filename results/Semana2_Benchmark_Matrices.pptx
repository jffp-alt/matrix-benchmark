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dcef1fa8-997c-0e7e-d170-9acc98343e44}">
          <p14:sldIdLst>
            <p14:sldId id="256"/>
          </p14:sldIdLst>
        </p14:section>
        <p14:section name="Agenda" id="{9114e0d2-ca5d-be9f-f047-e91fef5dd703}">
          <p14:sldIdLst>
            <p14:sldId id="257"/>
          </p14:sldIdLst>
        </p14:section>
        <p14:section name="Implementaciones" id="{7dbdc8ba-7c18-c705-a0d3-3c2b70bf7422}">
          <p14:sldIdLst>
            <p14:sldId id="258"/>
            <p14:sldId id="259"/>
            <p14:sldId id="260"/>
            <p14:sldId id="261"/>
          </p14:sldIdLst>
        </p14:section>
        <p14:section name="Decisiones de Diseno" id="{161745a9-40a2-8ae1-9290-532436ae3aa4}">
          <p14:sldIdLst>
            <p14:sldId id="262"/>
            <p14:sldId id="263"/>
            <p14:sldId id="264"/>
          </p14:sldIdLst>
        </p14:section>
        <p14:section name="Entorno" id="{dfe858fa-6927-83cf-d263-7190d22a9314}">
          <p14:sldIdLst>
            <p14:sldId id="265"/>
            <p14:sldId id="266"/>
          </p14:sldIdLst>
        </p14:section>
        <p14:section name="Resultados" id="{51f9cfa5-df49-5448-454a-aa4f367f8fcb}">
          <p14:sldIdLst>
            <p14:sldId id="267"/>
            <p14:sldId id="268"/>
            <p14:sldId id="269"/>
            <p14:sldId id="270"/>
          </p14:sldIdLst>
        </p14:section>
        <p14:section name="Conclusiones" id="{97ce0a30-a967-e676-3f56-283f7673e582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C++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2.73</c:v>
                </c:pt>
                <c:pt idx="1">
                  <c:v>28</c:v>
                </c:pt>
                <c:pt idx="2">
                  <c:v>97.83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</c:v>
                </c:pt>
              </c:strCache>
            </c:strRef>
          </c:tx>
          <c:spPr>
            <a:solidFill>
              <a:srgbClr val="00A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0.32</c:v>
                </c:pt>
                <c:pt idx="1">
                  <c:v>4.72</c:v>
                </c:pt>
                <c:pt idx="2">
                  <c:v>21.42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Java</c:v>
                </c:pt>
              </c:strCache>
            </c:strRef>
          </c:tx>
          <c:spPr>
            <a:solidFill>
              <a:srgbClr val="E67E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0.26</c:v>
                </c:pt>
                <c:pt idx="1">
                  <c:v>4.65</c:v>
                </c:pt>
                <c:pt idx="2">
                  <c:v>27.8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Python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12.46</c:v>
                </c:pt>
                <c:pt idx="1">
                  <c:v>101.88</c:v>
                </c:pt>
                <c:pt idx="2">
                  <c:v>342.08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8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1C7293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1C7293"/>
                    </a:solidFill>
                    <a:latin typeface="Arial"/>
                  </a:rPr>
                  <a:t>Tiempo (segundos)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729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objetivo: implementar multiplicación naive de matrices en 4 lenguajes y obtener primeros resultados de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 los temas a cubrir en esta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el algoritmo naive: triple bucle, sin optimizaciones. El mismo algoritmo se implementa de forma idéntica en los 4 lenguajes.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implementación usa el mismo algoritmo naive con triple bucle. Las diferencias son sintácticas: tipos de datos, funciones de tiempo, y estructuras de matrices propias de cada lenguaje.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generador lineal congruencial (LCG) asegura reproducibilidad: mismas semillas = mismas matrices = mismos resultados numéricos en los 4 lenguajes.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decisiones clave: Docker para aislamiento, -O0 para no beneficiar a C++ con optimizaciones del compilador, y medir solo la multiplicación.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Snakemake automatiza todo el pipeline. El formato CSV estándar con 4 columnas facilita el análisis posterior.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Documentar el entorno es clave para la reproducibilidad. Imágenes Docker oficiales con versiones fijas.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resumen de las estadísticas descriptivas. Go y Java lideran, Python es el más lento. C++ con -O0 no puede optimizar.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Gráfico de barras agrupado mostrando tiempos medios. Python domina visualmente por sus tiempos mucho mayores.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Ratios de rendimiento para N=1500. La baja variabilidad confirma que el experimento es estable.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las conclusiones principales y anticipar las próximas semanas: análisis estadístico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97280"/>
            <a:ext cx="8229600" cy="914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Universidad de Santiago de Chile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Semana 2 – Benchmark Matrices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0"/>
            <a:ext cx="2743200" cy="914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7293"/>
                </a:solidFill>
              </a:rPr>
              <a:t>Semana 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Implementación y Ejecución
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del Experimento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7293"/>
                </a:solidFill>
              </a:rPr>
              <a:t>Benchmark Reproducible de Multiplicación de Matrices NxN
</a:t>
            </a:r>
            <a:pPr indent="0" marL="0">
              <a:buNone/>
            </a:pPr>
            <a:r>
              <a:rPr lang="en-US" sz="1400" dirty="0">
                <a:solidFill>
                  <a:srgbClr val="EAF0F6"/>
                </a:solidFill>
              </a:rPr>
              <a:t>C++ · Go · Java · Python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1887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Algoritmo e Implementaciones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Multiplicación naive O(n³) en 4 lenguajes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1031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Decisiones de Diseño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Condiciones comparables: Docker, LCG, -O0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Entorno de Ejecución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Características del hardware y software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9319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Primeros Resultados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Estadísticas descriptivas y gráficos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01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Algoritmo 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Implementaciones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Multiplicación Naive O(n³)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Algoritmo clásico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Triple bucle anidado que computa cada
elemento C[i][j] como el producto punto
de la fila i de A y la columna j de B.
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</a:rPr>
              <a:t>Complejidad: O(n³)
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Sin optimizaciones de cache, SIMD,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ni paralelismo.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097280"/>
            <a:ext cx="3931920" cy="2926080"/>
          </a:xfrm>
          <a:prstGeom prst="roundRect">
            <a:avLst>
              <a:gd name="adj" fmla="val 4688"/>
            </a:avLst>
          </a:prstGeom>
          <a:solidFill>
            <a:srgbClr val="1B2838"/>
          </a:solidFill>
          <a:ln/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937760" y="13716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← 0 to n-1:
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j ← 0 to n-1: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C[i][j] ← 0
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 ← 0 to n-1: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C[i][j] += A[i][k]*B[k][j]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34747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AF0F6"/>
                </a:solidFill>
              </a:rPr>
              <a:t>Pseudocódigo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4 Lenguajes, 1 Algoritmo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C++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2344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vector&lt;vector&lt;double&gt;&gt;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chrono::high_resolution_clock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matrix_mult.cpp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8" name="Shape 6"/>
          <p:cNvSpPr/>
          <p:nvPr/>
        </p:nvSpPr>
        <p:spPr>
          <a:xfrm>
            <a:off x="4892040" y="123444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00AD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2344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2344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[][]float64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time.Now() / time.Since()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matrix_mult.go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97180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E67E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971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Java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2971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double[][]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System.nanoTime()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MatrixMult.java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97180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3572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971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Python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2971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list[list[float]]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time.perf_counter()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matrix_mult.py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Generador LCG Reproducible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1B283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= state × 6364136223846793005 + 1442695040888963407
</a:t>
            </a:r>
            <a:pPr indent="0" marL="0">
              <a:buNone/>
            </a:pPr>
            <a:r>
              <a:rPr lang="en-US" sz="14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= (state &gt;&gt; 33) % 10000 / 100.0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Semillas fijas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Matriz A: seed = 42
Matriz B: seed = 43 (seed + 1)
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Mismas matrices en los 4 lenguajes
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El generador LCG produce valores idénticos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en C++, Go, Java y Python, garantizando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que se multiplican las mismas matrices.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0" y="256032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23560" y="25603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Valores: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[0.00, 99.99]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0" y="306324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23560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Tamaños N: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500, 1000, 1500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0" y="356616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23560" y="35661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Repeticiones: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10 por combinación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406908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23560" y="40690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Total obs.: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120 mediciones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02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Decisiones de Diseño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para Comparabilidad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Condiciones Comparables de Ejecución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Contenedores Docker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288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Cada lenguaje se ejecuta en su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propia imagen oficial, aislando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dependencias y versiones.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3108960"/>
            <a:ext cx="2286000" cy="1005840"/>
          </a:xfrm>
          <a:prstGeom prst="roundRect">
            <a:avLst>
              <a:gd name="adj" fmla="val 4545"/>
            </a:avLst>
          </a:prstGeom>
          <a:solidFill>
            <a:srgbClr val="EAF0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004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gcc:13, golang:1.22,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eclipse-temurin:21,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python:3.12-slim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097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C++ sin optimización (-O0)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288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Se compila con -O0 para que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el compilador no optimice el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algoritmo naive.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29000" y="3108960"/>
            <a:ext cx="2286000" cy="1005840"/>
          </a:xfrm>
          <a:prstGeom prst="roundRect">
            <a:avLst>
              <a:gd name="adj" fmla="val 4545"/>
            </a:avLst>
          </a:prstGeom>
          <a:solidFill>
            <a:srgbClr val="EAF0F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66160" y="32004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Comparación justa 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algoritmo puro, no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 compilador.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97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6364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Medición aíslada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8288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Solo se cronometra 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multiplicación C=A×B.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La generación de matrices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se excluye.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108960"/>
            <a:ext cx="2286000" cy="1005840"/>
          </a:xfrm>
          <a:prstGeom prst="roundRect">
            <a:avLst>
              <a:gd name="adj" fmla="val 4545"/>
            </a:avLst>
          </a:prstGeom>
          <a:solidFill>
            <a:srgbClr val="EAF0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0" y="32004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Elimina varianza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I/O y asignación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memoria.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Pipeline y Formato de Salida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Pipeline Snakemake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Docker Build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40280" y="1783080"/>
            <a:ext cx="2743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6032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Benchmark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N=500,1000,1500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2743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Merge CSVs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1783080"/>
            <a:ext cx="2743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676656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Análisis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Estadístico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Formato CSV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8229600" cy="1463040"/>
          </a:xfrm>
          <a:prstGeom prst="roundRect">
            <a:avLst>
              <a:gd name="adj" fmla="val 6250"/>
            </a:avLst>
          </a:prstGeom>
          <a:solidFill>
            <a:srgbClr val="1B283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1089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language,N,repetition,time_seconds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cpp,500,1,2.051323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go,500,1,0.277601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java,500,1,0.216690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python,500,1,11.996717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3108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 columnas
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language – N – repetition – time_seconds
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EAF0F6"/>
                </a:solidFill>
              </a:rPr>
              <a:t>120 observaciones totales
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EAF0F6"/>
                </a:solidFill>
              </a:rPr>
              <a:t>4 lenguajes × 3 tamaños × 10 reps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03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Entorno de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Ejecución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Características del Entorno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EAF0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Hardware / Sistema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Equipo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Notebook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Procesador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Intel Core i7-1255U @ 2.60 GHz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5117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RAM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16 GB DDR4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8094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Sistema operativo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Ubuntu 22.04.4 LTS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41071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Arquitectura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x86_64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840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Docker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29.8.2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EAF0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3776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Imágenes Docker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937760" y="173736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74920" y="1737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C++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gcc:13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-O0 -std=c++17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237744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74920" y="2377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Go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golang:1.22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go build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937760" y="301752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74920" y="3017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Java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eclipse-temurin:21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javac + java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37760" y="365760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74920" y="3657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Python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python:3.12-slim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CPython puro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04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Primeros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Resultados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Estadísticas Descriptivas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Lenguaje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N=500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(media ± std)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N=1000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(media ± std)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N=1500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(media ± std)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Go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0.32 ± 0.02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4.72 ± 0.08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21.42 ± 0.63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Java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0.26 ± 0.03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4.65 ± 0.20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27.80 ± 0.34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C++ (-O0)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2.73 ± 0.28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28.00 ± 0.37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97.83 ± 1.18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</a:rPr>
                        <a:t>Python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</a:rPr>
                        <a:t>12.46 ± 0.26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</a:rPr>
                        <a:t>101.88 ± 1.82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</a:rPr>
                        <a:t>342.08 ± 4.55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291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Go y Java son los más rápidos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 – rendimiento similar en N=500 y N=1000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Python es ~16x más lento que Go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 – la brecha crece con N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C++ (-O0) queda en posición intermedia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 – sin optimizaciones del compilador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Tiempo Medio por Lenguaje y Tamaño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Observaciones Clave (N=1500)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96167"/>
                </a:solidFill>
              </a:rPr>
              <a:t>16x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Python vs 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9184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65A82"/>
                </a:solidFill>
              </a:rPr>
              <a:t>4.6x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C++ (-O0) vs Go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2648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7293"/>
                </a:solidFill>
              </a:rPr>
              <a:t>1.3x</a:t>
            </a:r>
            <a:endParaRPr lang="en-US" sz="52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Java vs Go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Baja variabilidad: </a:t>
            </a:r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coeficientes de variación &lt; 5% en todos los lenguajes, indicando mediciones estables.
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Escalamiento O(n³): </a:t>
            </a:r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al triplicar N (500→1500), los tiempos crecen ~27x, consistente con la complejidad teórica.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Conclusiones y Próximos Pasos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Conclusiones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Las 4 implementaciones producen
resultados numéricamente idénticos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Las diferencias de rendimiento se
deben exclusivamente al runtime
de cada lenguaje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Diseño experimental controlado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(Docker, LCG, -O0, medición aíslada)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754880" y="137160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Próximos pasos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ANOVA de dos factores con
interacción (lenguaje × tamaño)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Comparaciones post-hoc
Tukey HSD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Validar hipótesis H₀ / H₁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AF0F6"/>
                </a:solidFill>
              </a:rPr>
              <a:t>con significancia estadística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nchmark Matrices USACH">
  <a:themeElements>
    <a:clrScheme name="Benchmark Matrices USACH">
      <a:dk1>
        <a:srgbClr val="1B2838"/>
      </a:dk1>
      <a:lt1>
        <a:srgbClr val="FFFFFF"/>
      </a:lt1>
      <a:dk2>
        <a:srgbClr val="3A5A7C"/>
      </a:dk2>
      <a:lt2>
        <a:srgbClr val="EAF0F6"/>
      </a:lt2>
      <a:accent1>
        <a:srgbClr val="065A82"/>
      </a:accent1>
      <a:accent2>
        <a:srgbClr val="1C7293"/>
      </a:accent2>
      <a:accent3>
        <a:srgbClr val="21295C"/>
      </a:accent3>
      <a:accent4>
        <a:srgbClr val="F96167"/>
      </a:accent4>
      <a:accent5>
        <a:srgbClr val="2ECC71"/>
      </a:accent5>
      <a:accent6>
        <a:srgbClr val="E67E22"/>
      </a:accent6>
      <a:hlink>
        <a:srgbClr val="065A82"/>
      </a:hlink>
      <a:folHlink>
        <a:srgbClr val="3A5A7C"/>
      </a:folHlink>
    </a:clrScheme>
    <a:fontScheme name="Benchmark Matrices USA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Benchmark Multiplicacion de Matrices</dc:subject>
  <dc:creator>Jorge Fornes - USACH</dc:creator>
  <cp:lastModifiedBy>Jorge Fornes - USACH</cp:lastModifiedBy>
  <cp:revision>1</cp:revision>
  <dcterms:created xsi:type="dcterms:W3CDTF">2026-10-19T15:16:32Z</dcterms:created>
  <dcterms:modified xsi:type="dcterms:W3CDTF">2026-10-19T15:16:32Z</dcterms:modified>
</cp:coreProperties>
</file>