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a4bda04-137c-4631-8ccf-8b5e0806aa17}">
          <p14:sldIdLst>
            <p14:sldId id="256"/>
          </p14:sldIdLst>
        </p14:section>
        <p14:section name="Introduccion" id="{463914fb-e9a0-9afe-73d5-51e2db6e56e0}">
          <p14:sldIdLst>
            <p14:sldId id="257"/>
            <p14:sldId id="258"/>
            <p14:sldId id="259"/>
          </p14:sldIdLst>
        </p14:section>
        <p14:section name="Metodologia" id="{4691eb03-c7d8-bbe2-2ba9-0a25c4ffcdf7}">
          <p14:sldIdLst>
            <p14:sldId id="260"/>
            <p14:sldId id="261"/>
            <p14:sldId id="262"/>
          </p14:sldIdLst>
        </p14:section>
        <p14:section name="Resultados" id="{39c4fd19-7e60-5bb2-c12d-05bacada44e9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ntorno" id="{30156738-c9c4-2c5e-84ed-fe7c39973581}">
          <p14:sldIdLst>
            <p14:sldId id="272"/>
            <p14:sldId id="273"/>
            <p14:sldId id="274"/>
            <p14:sldId id="275"/>
          </p14:sldIdLst>
        </p14:section>
        <p14:section name="Conclusiones" id="{b4902f3f-57c1-f44c-ffe1-1fe2b5b4d957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C++</c:v>
                </c:pt>
              </c:strCache>
            </c:strRef>
          </c:tx>
          <c:spPr>
            <a:solidFill>
              <a:srgbClr val="002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2.73</c:v>
                </c:pt>
                <c:pt idx="1">
                  <c:v>28</c:v>
                </c:pt>
                <c:pt idx="2">
                  <c:v>97.83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</c:v>
                </c:pt>
              </c:strCache>
            </c:strRef>
          </c:tx>
          <c:spPr>
            <a:solidFill>
              <a:srgbClr val="3498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0.32</c:v>
                </c:pt>
                <c:pt idx="1">
                  <c:v>4.72</c:v>
                </c:pt>
                <c:pt idx="2">
                  <c:v>21.42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Java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</c:v>
                </c:pt>
                <c:pt idx="1">
                  <c:v>4.65</c:v>
                </c:pt>
                <c:pt idx="2">
                  <c:v>27.8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E975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12.46</c:v>
                </c:pt>
                <c:pt idx="1">
                  <c:v>101.88</c:v>
                </c:pt>
                <c:pt idx="2">
                  <c:v>342.08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78787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78787"/>
                    </a:solidFill>
                    <a:latin typeface="Arial"/>
                  </a:rPr>
                  <a:t>Tiempo (segundos)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787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Bienvenidos. En esta presentación mostramos el trabajo de Semana 2: la implementación y ejecución del experimento de benchmark de multiplicación de matrices. Partimos con un breve resumen de lo definido en Semana 1 y luego entramos de lleno en el código, las decisiones de diseño y los primeros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5 bloques que vamos a recorrer. Primero un resumen rápido de Semana 1 para dar contexto, después las implementaciones, las decisiones que tomamos para que la comparación sea justa, el entorno donde corrimos todo, y finalmente los primeros resultados con gráficos y observaciones.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en la implementación, recordemos brevemente qué definimos en Semana 1: la pregunta de investigación, las hipótesis y las variables del experimento. Cuatro lenguajes, tres tamaños, diez repeticiones, 120 mediciones totales.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Nuestra pregunta es si existen diferencias significativas entre los 4 lenguajes. H₀ dice que no hay diferencias, H₁ dice que al menos un lenguaje es significativamente diferente. Con esto claro, pasemos a ver la metodología.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Entramos en el corazón de Semana 2: qué algoritmo implementamos, en qué lenguajes y cómo garantizamos que las matrices sean idénticas en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el algoritmo naive de triple bucle: complejidad O(n³), sin optimizaciones. El LCG con semilla fija garantiza matrices idénticas en todos los lenguajes. Solo se mide la multiplicación pura, excluyendo generación e inicialización.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pilares de reproducibilidad. Docker aísla cada lenguaje en su imagen oficial. Snakemake automatiza los 120 benchmarks. Y Git + GitHub dan control de versiones y acceso público al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Llegamos a los primeros resultados. Todo lo que mostraremos aquí es análisis descriptivo: medias, desviaciones, gráficos de distribución. El análisis inferencial con ANOVA y Tukey lo haremos en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tenemos la tabla completa con los tiempos promedio por cada combinación lenguaje-tamaño. Go y Java son los más rápidos, C++ con -O0 queda en el medio, y Python es muy lento. Las desviaciones estándar son pequeñas, lo que indica mediciones estables.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boxplots confirman lo que dijimos: baja dispersión en todos los grupos, medianas representativas y prácticamente sin outliers. Esto nos da confianza en que los datos son de buena calidad para un análisis estadístico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es clave: muestra cómo el efecto del lenguaje cambia según el tamaño de la matriz. Las curvas NO son paralelas — la brecha entre Python y los demás se amplifica al crecer N. Esto sugiere una interacción entre los factores lenguaje y tamaño, que confirmaremos formalmente con ANOVA de dos factores en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el mapa de calor muestra los tiempos absolutos — los colores oscuros indican tiempos altos. Python en N=1500 alcanza 342 segundos. A la derecha, el speedup relativo a Python: Go llega a casi 40x más rápido en N=500.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Finalmente, este gráfico con barras de error muestra media más/menos una desviación estándar. Las barras de error son pequeñas en todos los casos, confirmando la estabilidad del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de barras nativo de PowerPoint muestra visualmente lo que vimos en la tabla. Noten cómo Python domina la escala, haciendo que las barras de Go y Java casi no se vean en N=1500.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cuantificamos las diferencias para N=1500. Python es 16 veces más lento que Go, C++ sin optimizaciones es 4.6 veces más lento, y Java solo 1.3 veces. Además, todos los coeficientes de variación están bajo el 5%, confirmando que nuestras mediciones son estables.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tenemos la tabla completa con media, desviación estándar, mín, mediana y máx por cada combinación lenguaje-tamaño. Las desviaciones estándar son pequeñas en relación a las medias, indicando mediciones estables.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Documentar el entorno es requisito para la reproducibilidad. Cualquier persona que quiera replicar debe saber exactamente en qué hardware y software se ejecutó.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notebook con i7-1255U y 16 GB de RAM corriendo Ubuntu. Cada lenguaje usa su imagen Docker oficial con versiones fijas: gcc 13 para C++, golang 1.22, eclipse-temurin 21 para Java, y python 3.12-slim. Esto asegura que cualquiera pueda replicar el experimento con el mismo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flujo está automatizado con Snakemake: desde construir las imágenes Docker hasta generar el CSV consolidado. El formato de salida es simple: 4 columnas, 120 filas.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proyecto vive en GitHub. El README documenta el diseño experimental completo, las instrucciones de reproducción y el entorno. Seguimos el marco ACM Artifact Review and Badging para ir hacia los badges Functional, Reusable y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Llegamos a las conclusiones. Resumimos los hallazgos descriptivos y los próximos pasos hacia el análisis inferencial.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cerrar: descriptivamente, Go y Java lideran, C++ sin optimizaciones queda en medio, y Python es consistentemente el más lento. Pero estas son observaciones descriptivas. Para poder afirmar que las diferencias son estadísticamente significativas necesitamos ANOVA de dos factores y Tukey HSD. Eso viene en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Finalmente, los criterios ACM. Functional: el código produce los resultados documentados. Reusable: Docker, Snakemake y semilla fija garantizan la reproducibilidad. Available: repositorio público con licencia MIT. El DOI de Zenodo viene en Semana 5.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685800"/>
            <a:ext cx="8595360" cy="13716"/>
          </a:xfrm>
          <a:prstGeom prst="rect">
            <a:avLst/>
          </a:prstGeom>
          <a:solidFill>
            <a:srgbClr val="AFAFA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7432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300" kern="0" dirty="0">
                <a:solidFill>
                  <a:srgbClr val="002D6B"/>
                </a:solidFill>
              </a:rPr>
              <a:t>BENCHMARK REPRODUCIBLE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27432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Multiplicación de Matrices NxN
</a:t>
            </a:r>
            <a:pPr indent="0" marL="0">
              <a:buNone/>
            </a:pPr>
            <a:r>
              <a:rPr lang="en-US" sz="1600" b="1" dirty="0">
                <a:solidFill>
                  <a:srgbClr val="E97500"/>
                </a:solidFill>
              </a:rPr>
              <a:t>C++  |  Go  |  Java  |  Python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274320" y="2743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Experimento Computacional Reproducible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ACM Artifact Review &amp;amp; Badging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3566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B"/>
                </a:solidFill>
              </a:rPr>
              <a:t>Profesor: Alcides Quispe
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Alumno: Jorge Fornés Pavez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78787"/>
                </a:solidFill>
              </a:rPr>
              <a:t>Octubre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D6B"/>
                </a:solidFill>
              </a:rPr>
              <a:t>Introducción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¿Qué es este proyecto y por qué es importante?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2 /23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¿Qué se realizó?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EBF0F7"/>
          </a:solidFill>
          <a:ln/>
        </p:spPr>
      </p:sp>
      <p:sp>
        <p:nvSpPr>
          <p:cNvPr id="5" name="Shape 2"/>
          <p:cNvSpPr/>
          <p:nvPr/>
        </p:nvSpPr>
        <p:spPr>
          <a:xfrm>
            <a:off x="914400" y="1371600"/>
            <a:ext cx="868680" cy="86868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371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{ }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4 Lenguajes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C++, Go, Java,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Python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EBF0F7"/>
          </a:solidFill>
          <a:ln/>
        </p:spPr>
      </p:sp>
      <p:sp>
        <p:nvSpPr>
          <p:cNvPr id="10" name="Shape 7"/>
          <p:cNvSpPr/>
          <p:nvPr/>
        </p:nvSpPr>
        <p:spPr>
          <a:xfrm>
            <a:off x="3063240" y="1371600"/>
            <a:ext cx="868680" cy="86868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063240" y="1371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NxN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3 Tamaños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N = 500, 1000,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1500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EBF0F7"/>
          </a:solidFill>
          <a:ln/>
        </p:spPr>
      </p:sp>
      <p:sp>
        <p:nvSpPr>
          <p:cNvPr id="15" name="Shape 12"/>
          <p:cNvSpPr/>
          <p:nvPr/>
        </p:nvSpPr>
        <p:spPr>
          <a:xfrm>
            <a:off x="5212080" y="1371600"/>
            <a:ext cx="868680" cy="86868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212080" y="1371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x10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10 Repeticiones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Por combinación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122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EBF0F7"/>
          </a:solidFill>
          <a:ln/>
        </p:spPr>
      </p:sp>
      <p:sp>
        <p:nvSpPr>
          <p:cNvPr id="20" name="Shape 17"/>
          <p:cNvSpPr/>
          <p:nvPr/>
        </p:nvSpPr>
        <p:spPr>
          <a:xfrm>
            <a:off x="7360920" y="1371600"/>
            <a:ext cx="868680" cy="86868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60920" y="1371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120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120 Mediciones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Total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observaciones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3 /23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Pregunta de investigación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EBF0F7"/>
          </a:solidFill>
          <a:ln w="19050">
            <a:solidFill>
              <a:srgbClr val="002D6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D6B"/>
                </a:solidFill>
              </a:rPr>
              <a:t>¿Existen diferencias estadísticamente significativas en el tiempo de ejecución del algoritmo naive de multiplicación de matrices NxN entre implementaciones equivalentes en C++, Go, Java y Python?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560320"/>
            <a:ext cx="3840480" cy="1645920"/>
          </a:xfrm>
          <a:prstGeom prst="roundRect">
            <a:avLst>
              <a:gd name="adj" fmla="val 5556"/>
            </a:avLst>
          </a:prstGeom>
          <a:solidFill>
            <a:srgbClr val="EBF0F7"/>
          </a:solidFill>
          <a:ln/>
        </p:spPr>
      </p:sp>
      <p:sp>
        <p:nvSpPr>
          <p:cNvPr id="7" name="Shape 4"/>
          <p:cNvSpPr/>
          <p:nvPr/>
        </p:nvSpPr>
        <p:spPr>
          <a:xfrm>
            <a:off x="2011680" y="2697480"/>
            <a:ext cx="594360" cy="594360"/>
          </a:xfrm>
          <a:prstGeom prst="ellipse">
            <a:avLst/>
          </a:prstGeom>
          <a:solidFill>
            <a:srgbClr val="002D6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1168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383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No hay diferencias significativas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entre lenguajes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846320" y="2560320"/>
            <a:ext cx="3840480" cy="1645920"/>
          </a:xfrm>
          <a:prstGeom prst="roundRect">
            <a:avLst>
              <a:gd name="adj" fmla="val 5556"/>
            </a:avLst>
          </a:prstGeom>
          <a:solidFill>
            <a:srgbClr val="FCEDDC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0" y="2697480"/>
            <a:ext cx="594360" cy="59436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H₁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3383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Al menos un lenguaje 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significativamente diferente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4 /23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D6B"/>
                </a:solidFill>
              </a:rPr>
              <a:t>Metodología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¿Cómo se diseñó y ejecutó el experimento?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5 /23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Diseño experimental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2697480" cy="347472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5" name="Shape 2"/>
          <p:cNvSpPr/>
          <p:nvPr/>
        </p:nvSpPr>
        <p:spPr>
          <a:xfrm>
            <a:off x="1325880" y="1188720"/>
            <a:ext cx="777240" cy="7772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325880" y="1188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1031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Algoritmo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6060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Multiplicación naive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O(n³)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Triple bucle anidado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idéntico en los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lenguajes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46120" y="1005840"/>
            <a:ext cx="2697480" cy="347472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10" name="Shape 7"/>
          <p:cNvSpPr/>
          <p:nvPr/>
        </p:nvSpPr>
        <p:spPr>
          <a:xfrm>
            <a:off x="4206240" y="1188720"/>
            <a:ext cx="777240" cy="7772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06240" y="1188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21031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Datos de entrada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060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Generador LCG con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semilla fija (seed=42 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seed=43)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Matrices idénticas 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todos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26480" y="1005840"/>
            <a:ext cx="2697480" cy="347472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15" name="Shape 12"/>
          <p:cNvSpPr/>
          <p:nvPr/>
        </p:nvSpPr>
        <p:spPr>
          <a:xfrm>
            <a:off x="7086600" y="1188720"/>
            <a:ext cx="777240" cy="7772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086600" y="1188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21031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Medición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26060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Solo se cronometra la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multiplicación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Generación 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inicialización excluidas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6 /23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Herramientas de reproducibilidad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02920" y="1188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B"/>
                </a:solidFill>
              </a:rPr>
              <a:t>Docker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73736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Contenedores aislados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por lenguaje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gcc:13 | golang:1.22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eclipse-temurin:21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python:3.12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1188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B"/>
                </a:solidFill>
              </a:rPr>
              <a:t>Snakemake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73736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Pipeline 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automatización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Ejecuta los 120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benchmarks y el análisis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estadístico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26480" y="100584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EBF0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63640" y="1188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6B"/>
                </a:solidFill>
              </a:rPr>
              <a:t>Git + GitHub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173736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Control de versiones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Repositorio público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github.com/jffp-alt/matrix-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benchmark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7 /23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D6B"/>
                </a:solidFill>
              </a:rPr>
              <a:t>Resultados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¿Qué encontramos?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8 /23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B"/>
                </a:solidFill>
              </a:rPr>
              <a:t>Tiempos promedio de ejecución (segundos)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N=500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N=1000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N=1500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D6B"/>
                          </a:solidFill>
                        </a:rPr>
                        <a:t>C++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2.73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28.00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97.83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D6B"/>
                          </a:solidFill>
                        </a:rPr>
                        <a:t>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0.32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4.72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21.42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D6B"/>
                          </a:solidFill>
                        </a:rPr>
                        <a:t>Java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0.26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4.65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27.80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2D6B"/>
                          </a:solidFill>
                        </a:rPr>
                        <a:t>Python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12.46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101.88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342.08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47472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EBF0F7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40080" y="3520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B"/>
                </a:solidFill>
              </a:rPr>
              <a:t>Más rápidos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Go y Java: ~0.3s para N=500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Prácticamente equivalentes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846320" y="347472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CEDDC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029200" y="3520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7500"/>
                </a:solidFill>
              </a:rPr>
              <a:t>Más lento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Python: 342s para N=1500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16x más lento que Go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9 /23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Distribución de tiempos (Boxplot)</a:t>
            </a:r>
            <a:endParaRPr lang="en-US" sz="2400" dirty="0"/>
          </a:p>
        </p:txBody>
      </p:sp>
      <p:pic>
        <p:nvPicPr>
          <p:cNvPr id="4" name="Image 1" descr="/home/claude/matrix-benchmark/results/boxplot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8595360" cy="32004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Python domina los tiempos altos. Go y Java son los más rápidos con baja variabilidad.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10 /23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B"/>
                </a:solidFill>
              </a:rPr>
              <a:t>Gráfico de interacción: Lenguaje × Tamaño</a:t>
            </a:r>
            <a:endParaRPr lang="en-US" sz="2200" dirty="0"/>
          </a:p>
        </p:txBody>
      </p:sp>
      <p:pic>
        <p:nvPicPr>
          <p:cNvPr id="4" name="Image 1" descr="/home/claude/matrix-benchmark/results/interaction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8595360" cy="32004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Las líneas no son paralelas → interacción significativa. Python crece mucho más rápido con N.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11 /23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Mapa de calor y Speedup vs Python</a:t>
            </a:r>
            <a:endParaRPr lang="en-US" sz="2400" dirty="0"/>
          </a:p>
        </p:txBody>
      </p:sp>
      <p:pic>
        <p:nvPicPr>
          <p:cNvPr id="4" name="Image 1" descr="/home/claude/matrix-benchmark/results/heatmap_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822960"/>
            <a:ext cx="4389120" cy="3749040"/>
          </a:xfrm>
          <a:prstGeom prst="rect">
            <a:avLst/>
          </a:prstGeom>
        </p:spPr>
      </p:pic>
      <p:pic>
        <p:nvPicPr>
          <p:cNvPr id="5" name="Image 2" descr="/home/claude/matrix-benchmark/results/speedup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822960"/>
            <a:ext cx="4389120" cy="374904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12 /23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Comparación con barras de error</a:t>
            </a:r>
            <a:endParaRPr lang="en-US" sz="2400" dirty="0"/>
          </a:p>
        </p:txBody>
      </p:sp>
      <p:pic>
        <p:nvPicPr>
          <p:cNvPr id="4" name="Image 1" descr="/home/claude/matrix-benchmark/results/bar_chart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8595360" cy="37490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13 /23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Tiempo medio por lenguaje y tamaño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14 /23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Observaciones clave (N=1500)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FCEDD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365760" y="10972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16x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8787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Python vs Go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46120" y="100584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EBF0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46120" y="10972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2D6B"/>
                </a:solidFill>
              </a:rPr>
              <a:t>4.6x</a:t>
            </a:r>
            <a:endParaRPr lang="en-US" sz="52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8787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24612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C++ (-O0) vs Go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26480" y="1005840"/>
            <a:ext cx="2697480" cy="2011680"/>
          </a:xfrm>
          <a:prstGeom prst="roundRect">
            <a:avLst>
              <a:gd name="adj" fmla="val 5455"/>
            </a:avLst>
          </a:prstGeom>
          <a:solidFill>
            <a:srgbClr val="EBF0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26480" y="10972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2D6B"/>
                </a:solidFill>
              </a:rPr>
              <a:t>1.3x</a:t>
            </a:r>
            <a:endParaRPr lang="en-US" sz="5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8787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Java vs Go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Baja variabilidad: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coeficientes de variación &lt; 5% en todos los lenguajes.
</a:t>
            </a:r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Escalamiento O(n³):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al triplicar N (500→1500), los tiempos crecen ~27x.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15 /23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D6B"/>
                </a:solidFill>
              </a:rPr>
              <a:t>Estadísticas descriptivas completas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640080"/>
                <a:gridCol w="457200"/>
                <a:gridCol w="109728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Media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Mediana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6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C++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3.15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C++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28.00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27.39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28.56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C++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97.83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98.27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99.11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Go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Go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Go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21.42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20.54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22.60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Java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Java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Java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27.80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27.16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27.84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28.38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Python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12.46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0.26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12.00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12.89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Python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101.88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98.14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102.30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104.09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2D6B"/>
                          </a:solidFill>
                        </a:rPr>
                        <a:t>Python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342.08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336.72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340.02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350.62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16 /23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D6B"/>
                </a:solidFill>
              </a:rPr>
              <a:t>Entorno de ejecución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Hardware, software y contenedores Docker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17 /23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Características del entorno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914400"/>
            <a:ext cx="4023360" cy="3474720"/>
          </a:xfrm>
          <a:prstGeom prst="roundRect">
            <a:avLst>
              <a:gd name="adj" fmla="val 3158"/>
            </a:avLst>
          </a:prstGeom>
          <a:solidFill>
            <a:srgbClr val="EBF0F7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Hardware / Sistema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087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Equipo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Notebook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659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Procesador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Intel Core i7-1255U @ 2.60 GHz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231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RAM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16 GB DDR4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803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Sistema operativo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Ubuntu 22.04.4 LTS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375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Arquitectura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x86_64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947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Docker
</a:t>
            </a:r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29.8.2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4880" y="914400"/>
            <a:ext cx="4023360" cy="3474720"/>
          </a:xfrm>
          <a:prstGeom prst="roundRect">
            <a:avLst>
              <a:gd name="adj" fmla="val 3158"/>
            </a:avLst>
          </a:prstGeom>
          <a:solidFill>
            <a:srgbClr val="EBF0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6B"/>
                </a:solidFill>
              </a:rPr>
              <a:t>Imágenes Docker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937760" y="155448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74920" y="1554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C++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
</a:t>
            </a:r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-O0 -std=c++17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937760" y="224028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7492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Go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golang:1.22
</a:t>
            </a:r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go build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937760" y="292608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7492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Java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
</a:t>
            </a:r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javac + java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937760" y="361188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7492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B"/>
                </a:solidFill>
              </a:rPr>
              <a:t>Python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
</a:t>
            </a:r>
            <a:pPr indent="0" marL="0">
              <a:buNone/>
            </a:pPr>
            <a:r>
              <a:rPr lang="en-US" sz="900" dirty="0">
                <a:solidFill>
                  <a:srgbClr val="878787"/>
                </a:solidFill>
              </a:rPr>
              <a:t>CPython puro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18 /23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Pipeline y formato CSV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91440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02D6B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365760" y="9144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377440" y="1234440"/>
            <a:ext cx="91440" cy="36576"/>
          </a:xfrm>
          <a:prstGeom prst="rect">
            <a:avLst/>
          </a:prstGeom>
          <a:solidFill>
            <a:srgbClr val="E97500"/>
          </a:solidFill>
          <a:ln/>
        </p:spPr>
      </p:sp>
      <p:sp>
        <p:nvSpPr>
          <p:cNvPr id="7" name="Shape 4"/>
          <p:cNvSpPr/>
          <p:nvPr/>
        </p:nvSpPr>
        <p:spPr>
          <a:xfrm>
            <a:off x="2514600" y="91440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02D6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514600" y="9144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N=500,1000,1500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26280" y="1234440"/>
            <a:ext cx="91440" cy="36576"/>
          </a:xfrm>
          <a:prstGeom prst="rect">
            <a:avLst/>
          </a:prstGeom>
          <a:solidFill>
            <a:srgbClr val="E97500"/>
          </a:solidFill>
          <a:ln/>
        </p:spPr>
      </p:sp>
      <p:sp>
        <p:nvSpPr>
          <p:cNvPr id="10" name="Shape 7"/>
          <p:cNvSpPr/>
          <p:nvPr/>
        </p:nvSpPr>
        <p:spPr>
          <a:xfrm>
            <a:off x="4663440" y="91440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02D6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Merge CSVs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75120" y="1234440"/>
            <a:ext cx="91440" cy="36576"/>
          </a:xfrm>
          <a:prstGeom prst="rect">
            <a:avLst/>
          </a:prstGeom>
          <a:solidFill>
            <a:srgbClr val="E975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812280" y="91440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002D6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12280" y="9144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Estadístico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2011680"/>
            <a:ext cx="5486400" cy="2194560"/>
          </a:xfrm>
          <a:prstGeom prst="roundRect">
            <a:avLst>
              <a:gd name="adj" fmla="val 4167"/>
            </a:avLst>
          </a:prstGeom>
          <a:solidFill>
            <a:srgbClr val="EBF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219456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language,N,repetition,time_seconds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cpp,500,1,2.051323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go,500,1,0.277601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java,500,1,0.216690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python,500,1,11.996717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2011680"/>
            <a:ext cx="2560320" cy="2194560"/>
          </a:xfrm>
          <a:prstGeom prst="roundRect">
            <a:avLst>
              <a:gd name="adj" fmla="val 4167"/>
            </a:avLst>
          </a:prstGeom>
          <a:solidFill>
            <a:srgbClr val="EBF0F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B"/>
                </a:solidFill>
              </a:rPr>
              <a:t>4 columnas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language – N –
repetition – time
</a:t>
            </a:r>
            <a:pPr indent="0" marL="0">
              <a:buNone/>
            </a:pPr>
            <a:r>
              <a:rPr lang="en-US" sz="1300" b="1" dirty="0">
                <a:solidFill>
                  <a:srgbClr val="E97500"/>
                </a:solidFill>
              </a:rPr>
              <a:t>120 observaciones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4 × 3 × 10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19 /23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Repositorio GitHub y estructura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91440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002D6B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github.com/jffp-alt/matrix-benchmark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5544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EBF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916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matrix-benchmark/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README.md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LICENSE (MIT)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FAIR_datasheet.md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Snakefile
</a:t>
            </a:r>
            <a:pPr indent="0" marL="0">
              <a:buNone/>
            </a:pPr>
            <a:r>
              <a:rPr lang="en-US" sz="1100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implementations/
</a:t>
            </a:r>
            <a:pPr indent="0" marL="0">
              <a:buNone/>
            </a:pPr>
            <a:r>
              <a:rPr lang="en-US" sz="1100" dirty="0">
                <a:solidFill>
                  <a:srgbClr val="878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cpp/ go/ java/ python/
</a:t>
            </a:r>
            <a:pPr indent="0" marL="0">
              <a:buNone/>
            </a:pPr>
            <a:r>
              <a:rPr lang="en-US" sz="1100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analysis/
</a:t>
            </a:r>
            <a:pPr indent="0" marL="0">
              <a:buNone/>
            </a:pPr>
            <a:r>
              <a:rPr lang="en-US" sz="1100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results/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EBF0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37760" y="16916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B"/>
                </a:solidFill>
              </a:rPr>
              <a:t>README.md incluye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Pregunta de investigación e hipótesis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Variables y diseño experimental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Instrucciones de reproducción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Entorno de ejecución documentado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Formato de resultados CSV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Criterios ACM Artifact Review
</a:t>
            </a:r>
            <a:pPr indent="0" marL="0">
              <a:buNone/>
            </a:pPr>
            <a:r>
              <a:rPr lang="en-US" sz="1200" b="1" dirty="0">
                <a:solidFill>
                  <a:srgbClr val="E97500"/>
                </a:solidFill>
              </a:rPr>
              <a:t>Functional → Reusable → Available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20 /23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750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D6B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Hallazgos y criterios de reproducibilidad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21 /23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Hallazgos principales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91440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EBF0F7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B"/>
                </a:solidFill>
              </a:rPr>
              <a:t>Descriptivamente se observan diferencias claras entre lenguajes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764792"/>
            <a:ext cx="320040" cy="3200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647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16916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Go y Java son los más rápidos, sin diferencias apreciables entre ellos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404872"/>
            <a:ext cx="320040" cy="3200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3317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C++ sin optimizaciones (-O0) tiene rendimiento intermedio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44952"/>
            <a:ext cx="320040" cy="3200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9718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Python (CPython) es ~16x más lento que Go/Java para N=1500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685032"/>
            <a:ext cx="320040" cy="320040"/>
          </a:xfrm>
          <a:prstGeom prst="ellipse">
            <a:avLst/>
          </a:prstGeom>
          <a:solidFill>
            <a:srgbClr val="E975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685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" y="36118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La brecha de rendimiento se amplifica con matrices más grandes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65760" y="374904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FCEDD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7500"/>
                </a:solidFill>
              </a:rPr>
              <a:t>Próximos pasos (Semana 4):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ANOVA de dos factores con interacción + Tukey HSD post-hoc para confirmar significancia estadística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22 /23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40f3c46b-f058-549d-8e96-c37d0c7b3694/scratchpad/usac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28016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37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D6B"/>
                </a:solidFill>
              </a:rPr>
              <a:t>Criterios ACM Artifact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2697480" cy="2560320"/>
          </a:xfrm>
          <a:prstGeom prst="roundRect">
            <a:avLst>
              <a:gd name="adj" fmla="val 4286"/>
            </a:avLst>
          </a:prstGeom>
          <a:solidFill>
            <a:srgbClr val="EBF0F7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143000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002D6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Functional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7830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El código se ejecuta 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produce los resultados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documentados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005840"/>
            <a:ext cx="2697480" cy="2560320"/>
          </a:xfrm>
          <a:prstGeom prst="roundRect">
            <a:avLst>
              <a:gd name="adj" fmla="val 4286"/>
            </a:avLst>
          </a:prstGeom>
          <a:solidFill>
            <a:srgbClr val="EBF0F7"/>
          </a:solidFill>
          <a:ln/>
        </p:spPr>
      </p:sp>
      <p:sp>
        <p:nvSpPr>
          <p:cNvPr id="9" name="Shape 6"/>
          <p:cNvSpPr/>
          <p:nvPr/>
        </p:nvSpPr>
        <p:spPr>
          <a:xfrm>
            <a:off x="3383280" y="1143000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002D6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83280" y="1143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Reusable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17830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Docker + Snakemake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Semilla fija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Documentación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completa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005840"/>
            <a:ext cx="2697480" cy="2560320"/>
          </a:xfrm>
          <a:prstGeom prst="roundRect">
            <a:avLst>
              <a:gd name="adj" fmla="val 4286"/>
            </a:avLst>
          </a:prstGeom>
          <a:solidFill>
            <a:srgbClr val="EBF0F7"/>
          </a:solidFill>
          <a:ln/>
        </p:spPr>
      </p:sp>
      <p:sp>
        <p:nvSpPr>
          <p:cNvPr id="13" name="Shape 10"/>
          <p:cNvSpPr/>
          <p:nvPr/>
        </p:nvSpPr>
        <p:spPr>
          <a:xfrm>
            <a:off x="6263640" y="1143000"/>
            <a:ext cx="2423160" cy="457200"/>
          </a:xfrm>
          <a:prstGeom prst="roundRect">
            <a:avLst>
              <a:gd name="adj" fmla="val 12000"/>
            </a:avLst>
          </a:prstGeom>
          <a:solidFill>
            <a:srgbClr val="002D6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143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Available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7830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GitHub público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Licencia MIT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Zenodo (pendiente DOI)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2D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github.com/jffp-alt/matrix-benchmark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43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Octubre 2026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Benchmark reproducible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8787"/>
                </a:solidFill>
              </a:rPr>
              <a:t>23 /23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chmark Matrices USACH">
  <a:themeElements>
    <a:clrScheme name="Benchmark Matrices USACH">
      <a:dk1>
        <a:srgbClr val="002D6B"/>
      </a:dk1>
      <a:lt1>
        <a:srgbClr val="FFFFFF"/>
      </a:lt1>
      <a:dk2>
        <a:srgbClr val="333333"/>
      </a:dk2>
      <a:lt2>
        <a:srgbClr val="EBF0F7"/>
      </a:lt2>
      <a:accent1>
        <a:srgbClr val="002D6B"/>
      </a:accent1>
      <a:accent2>
        <a:srgbClr val="E97500"/>
      </a:accent2>
      <a:accent3>
        <a:srgbClr val="878787"/>
      </a:accent3>
      <a:accent4>
        <a:srgbClr val="FCEDDC"/>
      </a:accent4>
      <a:accent5>
        <a:srgbClr val="AFAFAF"/>
      </a:accent5>
      <a:accent6>
        <a:srgbClr val="4F81BD"/>
      </a:accent6>
      <a:hlink>
        <a:srgbClr val="002D6B"/>
      </a:hlink>
      <a:folHlink>
        <a:srgbClr val="878787"/>
      </a:folHlink>
    </a:clrScheme>
    <a:fontScheme name="Benchmark Matrices USA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Benchmark Multiplicacion de Matrices - Semana 2</dc:subject>
  <dc:creator>Jorge Fornes - USACH</dc:creator>
  <cp:lastModifiedBy>Jorge Fornes - USACH</cp:lastModifiedBy>
  <cp:revision>1</cp:revision>
  <dcterms:created xsi:type="dcterms:W3CDTF">2026-10-19T16:06:51Z</dcterms:created>
  <dcterms:modified xsi:type="dcterms:W3CDTF">2026-10-19T16:06:51Z</dcterms:modified>
</cp:coreProperties>
</file>