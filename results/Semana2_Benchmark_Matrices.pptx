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182454ba-7c25-3ff5-aa32-0d07c0f41c22}">
          <p14:sldIdLst>
            <p14:sldId id="256"/>
          </p14:sldIdLst>
        </p14:section>
        <p14:section name="Agenda" id="{0923f082-0f07-d5bd-3d6e-59891908e0c9}">
          <p14:sldIdLst>
            <p14:sldId id="257"/>
          </p14:sldIdLst>
        </p14:section>
        <p14:section name="Implementaciones" id="{f3297b1d-bbb5-3b76-2352-3e65e1d15353}">
          <p14:sldIdLst>
            <p14:sldId id="258"/>
            <p14:sldId id="259"/>
            <p14:sldId id="260"/>
            <p14:sldId id="261"/>
          </p14:sldIdLst>
        </p14:section>
        <p14:section name="Decisiones de Diseno" id="{3d577777-c20d-e86c-e005-f25e65b47d95}">
          <p14:sldIdLst>
            <p14:sldId id="262"/>
            <p14:sldId id="263"/>
            <p14:sldId id="264"/>
          </p14:sldIdLst>
        </p14:section>
        <p14:section name="Entorno" id="{0b2486ff-79e9-ce48-e948-b641900e7489}">
          <p14:sldIdLst>
            <p14:sldId id="265"/>
            <p14:sldId id="266"/>
          </p14:sldIdLst>
        </p14:section>
        <p14:section name="Resultados" id="{d686d999-8771-4ef6-f9e6-279480fe85bf}">
          <p14:sldIdLst>
            <p14:sldId id="267"/>
            <p14:sldId id="268"/>
            <p14:sldId id="269"/>
            <p14:sldId id="270"/>
          </p14:sldIdLst>
        </p14:section>
        <p14:section name="Conclusiones" id="{2a0ef5a7-67e7-04b9-1f64-73a71744f17f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C++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2.73</c:v>
                </c:pt>
                <c:pt idx="1">
                  <c:v>28</c:v>
                </c:pt>
                <c:pt idx="2">
                  <c:v>97.83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</c:v>
                </c:pt>
              </c:strCache>
            </c:strRef>
          </c:tx>
          <c:spPr>
            <a:solidFill>
              <a:srgbClr val="00A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0.32</c:v>
                </c:pt>
                <c:pt idx="1">
                  <c:v>4.72</c:v>
                </c:pt>
                <c:pt idx="2">
                  <c:v>21.42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Java</c:v>
                </c:pt>
              </c:strCache>
            </c:strRef>
          </c:tx>
          <c:spPr>
            <a:solidFill>
              <a:srgbClr val="E67E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</c:v>
                </c:pt>
                <c:pt idx="1">
                  <c:v>4.65</c:v>
                </c:pt>
                <c:pt idx="2">
                  <c:v>27.8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12.46</c:v>
                </c:pt>
                <c:pt idx="1">
                  <c:v>101.88</c:v>
                </c:pt>
                <c:pt idx="2">
                  <c:v>342.08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1C729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1C7293"/>
                    </a:solidFill>
                    <a:latin typeface="Arial"/>
                  </a:rPr>
                  <a:t>Tiempo (segundos)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729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objetivo: implementar multiplicación naive de matrices en 4 lenguajes y obtener primeros resultados de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temas a cubrir en esta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algoritmo naive: triple bucle, sin optimizaciones. El mismo algoritmo se implementa de forma idéntica en los 4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implementación usa el mismo algoritmo naive con triple bucle. Las diferencias son sintácticas: tipos de datos, funciones de tiempo, y estructuras de matrices propias de cada lenguaje.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generador lineal congruencial (LCG) asegura reproducibilidad: mismas semillas = mismas matrices = mismos resultados numéricos en los 4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decisiones clave: Docker para aislamiento, -O0 para no beneficiar a C++ con optimizaciones del compilador, y medir solo la multiplicación.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Snakemake automatiza todo el pipeline. El formato CSV estándar con 4 columnas facilita el análisis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Documentar el entorno es clave para la reproducibilidad. Imágenes Docker oficiales con versiones fijas.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 las estadísticas descriptivas. Go y Java lideran, Python es el más lento. C++ con -O0 no puede optimizar.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 de barras agrupado mostrando tiempos medios. Python domina visualmente por sus tiempos mucho mayores.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de rendimiento para N=1500. La baja variabilidad confirma que el experimento es 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las conclusiones principales y anticipar las próximas semanas: análisis estadístico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Universidad de Santiago de Chile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Semana 2 – Benchmark Matrices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0"/>
            <a:ext cx="27432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</a:rPr>
              <a:t>Semana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Implementación y Ejecución
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del Experimento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7293"/>
                </a:solidFill>
              </a:rPr>
              <a:t>Benchmark Reproducible de Multiplicación de Matrices NxN
</a:t>
            </a:r>
            <a:pPr indent="0" marL="0">
              <a:buNone/>
            </a:pPr>
            <a:r>
              <a:rPr lang="en-US" sz="1400" dirty="0">
                <a:solidFill>
                  <a:srgbClr val="EAF0F6"/>
                </a:solidFill>
              </a:rPr>
              <a:t>C++ · Go · Java · Python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188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Algoritmo e Implementaciones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Multiplicación naive O(n³) en 4 lenguajes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1031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Decisiones de Diseño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Condiciones comparables: Docker, LCG, -O0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Entorno de Ejecución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Características del hardware y software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319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Primeros Resultados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Estadísticas descriptivas y gráficos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Algoritmo 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Implementaciones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Multiplicación Naive O(n³)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Algoritmo clásico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Triple bucle anidado que computa cada
elemento C[i][j] como el producto punto
de la fila i de A y la columna j de B.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</a:rPr>
              <a:t>Complejidad: O(n³)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Sin optimizaciones de cache, SIMD,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ni paralelismo.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4688"/>
            </a:avLst>
          </a:prstGeom>
          <a:solidFill>
            <a:srgbClr val="1B2838"/>
          </a:solidFill>
          <a:ln/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937760" y="13716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0 to n-1: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j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C[i][j] ← 0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C[i][j] += A[i][k]*B[k][j]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AF0F6"/>
                </a:solidFill>
              </a:rPr>
              <a:t>Pseudocódigo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4 Lenguajes, 1 Algoritmo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C++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vector&lt;vector&lt;double&gt;&gt;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chrono::high_resolution_clock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matrix_mult.cpp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8" name="Shape 6"/>
          <p:cNvSpPr/>
          <p:nvPr/>
        </p:nvSpPr>
        <p:spPr>
          <a:xfrm>
            <a:off x="489204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0AD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[][]float64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time.Now() / time.Since()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matrix_mult.go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E67E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Java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double[][]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System.nanoTime()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MatrixMult.java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3572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list[list[float]]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time.perf_counter()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matrix_mult.py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Generador LCG Reproducible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B283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state × 6364136223846793005 + 1442695040888963407
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(state &gt;&gt; 33) % 10000 / 100.0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Semillas fijas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Matriz A: seed = 42
Matriz B: seed = 43 (seed + 1)
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Mismas matrices en los 4 lenguajes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El generador LCG produce valores idénticos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en C++, Go, Java y Python, garantizando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que se multiplican las mismas matrices.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23560" y="2560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Valores: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[0.00, 99.99]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306324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2356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Tamaños N: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500, 1000, 1500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0" y="356616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Repeticiones: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10 por combinación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06908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23560" y="4069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Total obs.: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120 mediciones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Decisiones de Diseño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para Comparabilidad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Condiciones Comparables de Ejecución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Contenedores Docker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Cada lenguaje se ejecuta en su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propia imagen oficial, aislando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dependencias y versiones.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gcc:13, golang:1.22,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C++ sin optimización (-O0)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compila con -O0 para 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el compilador no optimice 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algoritmo naive.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Comparación justa 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 puro, 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compilador.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Medición aíslada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Solo se cronometra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multiplicación C=A×B.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La generación de matrices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excluye.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 varianza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I/O y asignación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memoria.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Pipeline y Formato de Salida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Pipeline Snakemake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Docker 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4028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Benchmark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N=500,1000,1500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Merge CSVs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676656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Estadístico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Formato CSV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1B283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1089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language,N,repetition,time_seconds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cpp,500,1,2.051323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go,500,1,0.277601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java,500,1,0.216690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python,500,1,11.996717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108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columnas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language – N – repetition – time_seconds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120 observaciones totales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EAF0F6"/>
                </a:solidFill>
              </a:rPr>
              <a:t>4 lenguajes × 3 tamaños × 10 reps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03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Entorno de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Ejecución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Características del Entorno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Hardware / Sistema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Procesador
</a:t>
            </a:r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Intel Xeon @ 2.80 GHz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RAM
</a:t>
            </a:r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8 GB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Sistema operativo
</a:t>
            </a:r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Linux 6.18.44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Arquitectura
</a:t>
            </a:r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x86_64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49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Docker
</a:t>
            </a:r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29.8.2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Imágenes Docker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7492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C++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-O0 -std=c++17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37760" y="237744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7492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Go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golang:1.22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go build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937760" y="301752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74920" y="3017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Java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javac + java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365760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7492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Python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CPython puro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04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Primeros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Resultados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Estadísticas Descriptivas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Lenguaje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N=1000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0.32 ± 0.02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4.72 ± 0.08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21.42 ± 0.63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Java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0.26 ± 0.03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4.65 ± 0.20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27.80 ± 0.34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C++ (-O0)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2.73 ± 0.28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28.00 ± 0.37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97.83 ± 1.18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</a:rPr>
                        <a:t>Python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12.46 ± 0.26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101.88 ± 1.82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342.08 ± 4.55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Go y Java son los más rápidos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rendimiento similar en N=500 y N=1000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Python es ~16x más lento que Go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la brecha crece con N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C++ (-O0) queda en posición intermedia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sin optimizaciones del compilador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Tiempo Medio por Lenguaje y Tamaño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Observaciones Clave (N=1500)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6167"/>
                </a:solidFill>
              </a:rPr>
              <a:t>16x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Python vs 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</a:rPr>
              <a:t>4.6x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C++ (-O0) vs 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</a:rPr>
              <a:t>1.3x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Java vs Go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Baja variabilidad: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coeficientes de variación &lt; 5% en todos los lenguajes, indicando mediciones estables.
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Escalamiento O(n³):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al triplicar N (500→1500), los tiempos crecen ~27x, consistente con la complejidad teórica.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Conclusiones y Próximos Pasos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Conclusiones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Las 4 implementaciones producen
resultados numéricamente idénticos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Las diferencias de rendimiento se
deben exclusivamente al runtime
de cada lenguaje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Diseño experimental controlado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(Docker, LCG, -O0, medición aíslada)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Próximos pasos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ANOVA de dos factores con
interacción (lenguaje × tamaño)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Comparaciones post-hoc
Tukey HSD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Validar hipótesis H₀ / H₁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con significancia estadística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chmark Matrices USACH">
  <a:themeElements>
    <a:clrScheme name="Benchmark Matrices USACH">
      <a:dk1>
        <a:srgbClr val="1B2838"/>
      </a:dk1>
      <a:lt1>
        <a:srgbClr val="FFFFFF"/>
      </a:lt1>
      <a:dk2>
        <a:srgbClr val="3A5A7C"/>
      </a:dk2>
      <a:lt2>
        <a:srgbClr val="EAF0F6"/>
      </a:lt2>
      <a:accent1>
        <a:srgbClr val="065A82"/>
      </a:accent1>
      <a:accent2>
        <a:srgbClr val="1C7293"/>
      </a:accent2>
      <a:accent3>
        <a:srgbClr val="21295C"/>
      </a:accent3>
      <a:accent4>
        <a:srgbClr val="F96167"/>
      </a:accent4>
      <a:accent5>
        <a:srgbClr val="2ECC71"/>
      </a:accent5>
      <a:accent6>
        <a:srgbClr val="E67E22"/>
      </a:accent6>
      <a:hlink>
        <a:srgbClr val="065A82"/>
      </a:hlink>
      <a:folHlink>
        <a:srgbClr val="3A5A7C"/>
      </a:folHlink>
    </a:clrScheme>
    <a:fontScheme name="Benchmark Matrices USA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Benchmark Multiplicacion de Matrices</dc:subject>
  <dc:creator>Jorge Fornes - USACH</dc:creator>
  <cp:lastModifiedBy>Jorge Fornes - USACH</cp:lastModifiedBy>
  <cp:revision>1</cp:revision>
  <dcterms:created xsi:type="dcterms:W3CDTF">2026-10-19T15:00:58Z</dcterms:created>
  <dcterms:modified xsi:type="dcterms:W3CDTF">2026-10-19T15:00:58Z</dcterms:modified>
</cp:coreProperties>
</file>