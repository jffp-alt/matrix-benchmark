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d4304068-c95a-8dd3-0785-7f764847010e}">
          <p14:sldIdLst>
            <p14:sldId id="256"/>
          </p14:sldIdLst>
        </p14:section>
        <p14:section name="Agenda" id="{553dc4b0-2cbc-b281-3f3f-e6e9c3a384e2}">
          <p14:sldIdLst>
            <p14:sldId id="257"/>
          </p14:sldIdLst>
        </p14:section>
        <p14:section name="Resumen Semana 1" id="{ba0b9fe9-9c5e-172d-8051-5ae042017880}">
          <p14:sldIdLst>
            <p14:sldId id="258"/>
            <p14:sldId id="259"/>
            <p14:sldId id="260"/>
          </p14:sldIdLst>
        </p14:section>
        <p14:section name="Implementaciones" id="{5e317382-e52d-3487-b511-bafe4cb24ece}">
          <p14:sldIdLst>
            <p14:sldId id="261"/>
            <p14:sldId id="262"/>
            <p14:sldId id="263"/>
            <p14:sldId id="264"/>
          </p14:sldIdLst>
        </p14:section>
        <p14:section name="Decisiones de Diseno" id="{91112fb1-68b4-7627-7855-f35ebd1f23fa}">
          <p14:sldIdLst>
            <p14:sldId id="265"/>
            <p14:sldId id="266"/>
            <p14:sldId id="267"/>
          </p14:sldIdLst>
        </p14:section>
        <p14:section name="Entorno" id="{7048b338-f052-3153-d84a-56e279959fed}">
          <p14:sldIdLst>
            <p14:sldId id="268"/>
            <p14:sldId id="269"/>
          </p14:sldIdLst>
        </p14:section>
        <p14:section name="Resultados" id="{ad521a8c-81e9-4def-dbc2-86fe222ccf80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onclusiones" id="{df56ac5d-39db-629f-5a68-6d275af68ad3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C++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2.73</c:v>
                </c:pt>
                <c:pt idx="1">
                  <c:v>28</c:v>
                </c:pt>
                <c:pt idx="2">
                  <c:v>97.83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</c:v>
                </c:pt>
              </c:strCache>
            </c:strRef>
          </c:tx>
          <c:spPr>
            <a:solidFill>
              <a:srgbClr val="00A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0.32</c:v>
                </c:pt>
                <c:pt idx="1">
                  <c:v>4.72</c:v>
                </c:pt>
                <c:pt idx="2">
                  <c:v>21.42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Java</c:v>
                </c:pt>
              </c:strCache>
            </c:strRef>
          </c:tx>
          <c:spPr>
            <a:solidFill>
              <a:srgbClr val="E67E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0.26</c:v>
                </c:pt>
                <c:pt idx="1">
                  <c:v>4.65</c:v>
                </c:pt>
                <c:pt idx="2">
                  <c:v>27.8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Python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N=500</c:v>
                  </c:pt>
                  <c:pt idx="1">
                    <c:v>N=1000</c:v>
                  </c:pt>
                  <c:pt idx="2">
                    <c:v>N=1500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12.46</c:v>
                </c:pt>
                <c:pt idx="1">
                  <c:v>101.88</c:v>
                </c:pt>
                <c:pt idx="2">
                  <c:v>342.08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8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1C7293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1C7293"/>
                    </a:solidFill>
                    <a:latin typeface="Arial"/>
                  </a:rPr>
                  <a:t>Tiempo (segundos)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729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Bienvenidos. En esta presentación mostramos el trabajo de Semana 2: la implementación y ejecución del experimento de benchmark de multiplicación de matrices. Partimos con un breve resumen de lo definido en Semana 1 y luego entramos de lleno en el código, las decisiones de diseño y los primeros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son los 5 bloques que vamos a recorrer. Primero un resumen rápido de Semana 1 para dar contexto, después las implementaciones, las decisiones que tomamos para que la comparación sea justa, el entorno donde corrimos todo, y finalmente los primeros resultados con gráficos y observaciones.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entrar en la implementación, recordemos brevemente qué definimos en Semana 1: la pregunta de investigación, las hipótesis y las variables del experimento.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Nuestra pregunta es si existen diferencias significativas entre los 4 lenguajes. Tenemos dos factores independientes —lenguaje y tamaño—, una variable dependiente —el tiempo—, y controles como la semilla fija y 10 repeticiones. En total son 120 mediciones. Con esto claro, pasamos a ver cómo se organizó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proyecto vive en GitHub. El README documenta el diseño experimental completo, las instrucciones de reproducción y el entorno. Seguimos el marco ACM Artifact Review and Badging para ir hacia los badges Functional, Reusable y Available. Con el contexto de Semana 1 claro, pasemos ahora a las implementaciones.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Entramos en el corazón de Semana 2: qué algoritmo implementamos, en qué lenguajes y cómo garantizamos que las matrices sean idénticas en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Usamos el algoritmo naive de triple bucle: complejidad O(n³), sin optimizaciones de cache, SIMD ni paralelismo. Esto es deliberado: queremos medir el lenguaje, no trucos de optimización. Veamos ahora cómo se ve en cada lenguaje.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lenguajes, un solo algoritmo. Las diferencias son solo sintácticas: cada uno usa su tipo nativo de arreglo bidimensional y su función de medición de tiempo. Ahora, ¿cómo aseguramos que las matrices de entrada sean exactamente las mismas?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clave de la reproducibilidad es el generador LCG con semilla fija 42. Al implementar el mismo generador en los 4 lenguajes, garantizamos que las matrices A y B son idénticas bit a bit. Así cualquier diferencia de tiempo es atribuible al lenguaje, no a los datos. Ahora veamos las decisiones de diseño para que la comparación sea justa.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 la comparación entre lenguajes sea válida, tomamos varias decisiones de diseño que controlan las variables confusoras. Veamos cuáles y por qué.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decisiones fundamentales. Primero, Docker: cada lenguaje corre en su imagen oficial, eliminando conflictos de dependencias. Segundo, compilar C++ con -O0 para que el compilador no optimice el algoritmo y la comparación sea del lenguaje puro. Tercero, medir solo la multiplicación, excluyendo la generación de matrices para eliminar varianza por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flujo está automatizado con Snakemake: desde construir las imágenes Docker hasta generar el CSV consolidado. El formato de salida es simple: 4 columnas, 120 filas. Esto facilita el análisis estadístico que haremos en semanas posteriores. Veamos ahora en qué máquina corrimos el experimento.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Documentar el entorno es requisito para la reproducibilidad. Cualquier persona que quiera replicar debe saber exactamente en qué hardware y software se ejecutó.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notebook con i7-1255U y 16 GB de RAM corriendo Ubuntu. Cada lenguaje usa su imagen Docker oficial con versiones fijas: gcc 13 para C++, golang 1.22, eclipse-temurin 21 para Java, y python 3.12-slim. Esto asegura que cualquiera pueda replicar el experimento con el mismo entorno. Ahora pasemos a lo más interesante: los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Llegamos a los primeros resultados. Todo lo que mostraremos aquí es análisis descriptivo: medias, desviaciones, gráficos de distribución. El análisis inferencial con ANOVA y Tukey lo haremos en Semana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tenemos la tabla completa con media y desviación estándar por cada combinación lenguaje-tamaño. Tres cosas saltan a la vista: Go y Java son los más rápidos, C++ con -O0 queda en el medio, y Python es muy lento. Fíjense que las desviaciones estándar son pequeñas, lo que indica mediciones estables.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de barras muestra visualmente lo que vimos en la tabla. Noten cómo Python domina la escala, haciendo que las barras de Go y Java casi no se vean en N=1500. Esto sugiere diferencias muy grandes, pero necesitamos cuantificarlo mejor.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cuantificamos las diferencias para N=1500. Python es 16 veces más lento que Go, C++ sin optimizaciones es 4.6 veces más lento, y Java solo 1.3 veces. Además, todos los coeficientes de variación están bajo el 5%, confirmando que nuestras mediciones son estables y confiables.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boxplots confirman lo que dijimos: baja dispersión en todos los grupos, medianas representativas y prácticamente sin outliers. Esto nos da confianza en que los datos son de buena calidad para un análisis estadístico posterior.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es clave: muestra cómo el efecto del lenguaje cambia según el tamaño de la matriz. Las curvas NO son paralelas — la brecha entre Python y los demás se amplifica al crecer N. Esto sugiere una interacción entre los factores lenguaje y tamaño, que confirmaremos formalmente con ANOVA de dos factores en Semana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izquierda, el mapa de calor muestra los tiempos absolutos — los colores oscuros indican tiempos altos. Python en N=1500 alcanza 342 segundos. A la derecha, el speedup relativo a Python: Go llega a casi 40x más rápido en N=500. Estos gráficos complementan la tabla numérica con una vista más intuitiva.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Finalmente, este gráfico con barras de error muestra media más/menos una desviación estándar. Las barras de error son pequeñas en todos los casos, lo que confirma una vez más la estabilidad del experimento. Con toda esta evidencia descriptiva, pasemos a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cerrar: descriptivamente, Go y Java lideran, C++ sin optimizaciones queda en medio, y Python es consistentemente el más lento. Pero estas son observaciones descriptivas. Para poder afirmar que las diferencias son estadísticamente significativas necesitamos ANOVA de dos factores, y para saber exactamente cuáles pares difieren, Tukey HSD. Eso viene en Semana 4, junto con la automatización completa con Snakemake.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97280"/>
            <a:ext cx="8229600" cy="914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Universidad de Santiago de Chile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Semana 2 – Benchmark Matrices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0"/>
            <a:ext cx="2743200" cy="914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7293"/>
                </a:solidFill>
              </a:rPr>
              <a:t>Semana 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Implementación y Ejecución
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del Experimento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7293"/>
                </a:solidFill>
              </a:rPr>
              <a:t>Benchmark Reproducible de Multiplicación de Matrices NxN
</a:t>
            </a:r>
            <a:pPr indent="0" marL="0">
              <a:buNone/>
            </a:pPr>
            <a:r>
              <a:rPr lang="en-US" sz="1400" dirty="0">
                <a:solidFill>
                  <a:srgbClr val="EAF0F6"/>
                </a:solidFill>
              </a:rPr>
              <a:t>C++ · Go · Java · Python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051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Resumen Semana 1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Diseño experimental, repositorio GitHub y README.md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1801368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01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801368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Algoritmo e Implementaciones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Multiplicación naive O(n³) en 4 lenguajes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551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551176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Decisiones de Diseño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Condiciones comparables: Docker, LCG, -O0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3009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300984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Entorno de Ejecución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Características del hardware y software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4050792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050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050792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838"/>
                </a:solidFill>
              </a:rPr>
              <a:t>Primeros Resultados
</a:t>
            </a:r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</a:rPr>
              <a:t>Estadísticas descriptivas, gráficos y observaciones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01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Resumen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Semana 1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Diseño Experimental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Pregunta de investigación
</a:t>
            </a: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B2838"/>
                </a:solidFill>
              </a:rPr>
              <a:t>¿Existen diferencias estadísticamente significativas en el tiempo de ejecución del algoritmo naive de multiplicación de matrices NxN entre implementaciones equivalentes en C++, Go, Java y Python?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Hipótesis
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</a:rPr>
              <a:t>H₀: </a:t>
            </a:r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El lenguaje no produce diferencias significativas en el tiempo de ejecución.
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</a:rPr>
              <a:t>H₁: </a:t>
            </a:r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Al menos un lenguaje presenta un tiempo significativamente diferente.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19456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Variable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Valores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838"/>
                          </a:solidFill>
                        </a:rPr>
                        <a:t>Lenguaje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</a:rPr>
                        <a:t>Independiente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</a:rPr>
                        <a:t>C++, Go, Java, Python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838"/>
                          </a:solidFill>
                        </a:rPr>
                        <a:t>Tamaño (N)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</a:rPr>
                        <a:t>Independiente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</a:rPr>
                        <a:t>500, 1000, 1500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838"/>
                          </a:solidFill>
                        </a:rPr>
                        <a:t>Tiempo (s)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</a:rPr>
                        <a:t>Dependiente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</a:rPr>
                        <a:t>Segundos (float)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838"/>
                          </a:solidFill>
                        </a:rPr>
                        <a:t>Repeticiones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</a:rPr>
                        <a:t>Control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</a:rPr>
                        <a:t>10 por combinación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838"/>
                          </a:solidFill>
                        </a:rPr>
                        <a:t>Semilla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</a:rPr>
                        <a:t>Control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</a:rPr>
                        <a:t>42 (fija)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21295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0F6"/>
                </a:solidFill>
              </a:rPr>
              <a:t>Total de observaciones: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lenguajes × 3 tamaños × 10 repeticiones = 120 mediciones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Repositorio GitHub y Estructura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83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05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github.com/jffp-alt/matrix-benchmark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4114800" cy="2834640"/>
          </a:xfrm>
          <a:prstGeom prst="roundRect">
            <a:avLst>
              <a:gd name="adj" fmla="val 3226"/>
            </a:avLst>
          </a:prstGeom>
          <a:solidFill>
            <a:srgbClr val="1B283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matrix-benchmark/
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README.md
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LICENSE (MIT)
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FAIR_datasheet.md
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Snakefile
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implementations/
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cpp/ go/ java/ python/
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analysis/
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results/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691640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README.md incluye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• Pregunta de investigación e hipótesis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• Variables y diseño experimental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• Instrucciones de reproducción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• Entorno de ejecución documentado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• Formato de resultados CSV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• Criterios ACM Artifact Review
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Marco de referencia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ACM Artifact Review &amp; Badging
</a:t>
            </a:r>
            <a:endParaRPr lang="en-US" sz="16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Functional → Reusable → Available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Algoritmo 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Implementaciones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Multiplicación Naive O(n³)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Algoritmo clásico
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Triple bucle anidado que computa cada
elemento C[i][j] como el producto punto
de la fila i de A y la columna j de B.
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</a:rPr>
              <a:t>Complejidad: O(n³)
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Sin optimizaciones de cache, SIMD,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ni paralelismo.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097280"/>
            <a:ext cx="3931920" cy="2926080"/>
          </a:xfrm>
          <a:prstGeom prst="roundRect">
            <a:avLst>
              <a:gd name="adj" fmla="val 4688"/>
            </a:avLst>
          </a:prstGeom>
          <a:solidFill>
            <a:srgbClr val="1B2838"/>
          </a:solidFill>
          <a:ln/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937760" y="13716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← 0 to n-1:
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j ← 0 to n-1: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C[i][j] ← 0
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 ← 0 to n-1: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C[i][j] += A[i][k]*B[k][j]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34747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AF0F6"/>
                </a:solidFill>
              </a:rPr>
              <a:t>Pseudocódigo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4 Lenguajes, 1 Algoritmo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C++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2344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vector&lt;vector&lt;double&gt;&gt;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chrono::high_resolution_clock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matrix_mult.cpp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8" name="Shape 6"/>
          <p:cNvSpPr/>
          <p:nvPr/>
        </p:nvSpPr>
        <p:spPr>
          <a:xfrm>
            <a:off x="4892040" y="123444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0AD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2344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23444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[][]float64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time.Now() / time.Since()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matrix_mult.go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97180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E67E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971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Java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2971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double[][]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System.nanoTime()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MatrixMult.java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3931920" cy="1463040"/>
          </a:xfrm>
          <a:prstGeom prst="roundRect">
            <a:avLst>
              <a:gd name="adj" fmla="val 6250"/>
            </a:avLst>
          </a:prstGeom>
          <a:solidFill>
            <a:srgbClr val="EAF0F6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971800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3572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971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Python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2971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Tipos: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list[list[float]]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Timer: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time.perf_counter()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B2838"/>
                </a:solidFill>
              </a:rPr>
              <a:t>Archivo: </a:t>
            </a:r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matrix_mult.py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Generador LCG Reproducible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1B283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 state × 6364136223846793005 + 1442695040888963407
</a:t>
            </a:r>
            <a:pPr indent="0" marL="0">
              <a:buNone/>
            </a:pPr>
            <a:r>
              <a:rPr lang="en-US" sz="14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= (state &gt;&gt; 33) % 10000 / 100.0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Semillas fijas
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Matriz A: seed = 42
Matriz B: seed = 43 (seed + 1)
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Mismas matrices en los 4 lenguajes
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El generador LCG produce valores idénticos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en C++, Go, Java y Python, garantizando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que se multiplican las mismas matrices.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0" y="256032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23560" y="2560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Valores: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[0.00, 99.99]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0" y="306324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23560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Tamaños N: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500, 1000, 1500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0" y="356616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23560" y="35661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Repeticiones: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10 por combinación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4069080"/>
            <a:ext cx="3200400" cy="411480"/>
          </a:xfrm>
          <a:prstGeom prst="roundRect">
            <a:avLst>
              <a:gd name="adj" fmla="val 11111"/>
            </a:avLst>
          </a:prstGeom>
          <a:solidFill>
            <a:srgbClr val="EAF0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23560" y="4069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838"/>
                </a:solidFill>
              </a:rPr>
              <a:t>Total obs.: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</a:rPr>
              <a:t>120 mediciones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03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Decisiones de Diseño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para Comparabilidad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Condiciones Comparables de Ejecución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Contenedores Docker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288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Cada lenguaje se ejecuta en su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propia imagen oficial, aislando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dependencias y versiones.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3108960"/>
            <a:ext cx="2286000" cy="1005840"/>
          </a:xfrm>
          <a:prstGeom prst="roundRect">
            <a:avLst>
              <a:gd name="adj" fmla="val 4545"/>
            </a:avLst>
          </a:prstGeom>
          <a:solidFill>
            <a:srgbClr val="EAF0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00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gcc:13, golang:1.22,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eclipse-temurin:21,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python:3.12-slim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097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C++ sin optimización (-O0)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288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Se compila con -O0 para que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el compilador no optimice el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algoritmo naive.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29000" y="3108960"/>
            <a:ext cx="2286000" cy="1005840"/>
          </a:xfrm>
          <a:prstGeom prst="roundRect">
            <a:avLst>
              <a:gd name="adj" fmla="val 4545"/>
            </a:avLst>
          </a:prstGeom>
          <a:solidFill>
            <a:srgbClr val="EAF0F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66160" y="3200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Comparación justa 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 puro, no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 compilador.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6364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Medición aíslada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8288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Solo se cronometra 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multiplicación C=A×B.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La generación de matrices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se excluye.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108960"/>
            <a:ext cx="2286000" cy="1005840"/>
          </a:xfrm>
          <a:prstGeom prst="roundRect">
            <a:avLst>
              <a:gd name="adj" fmla="val 4545"/>
            </a:avLst>
          </a:prstGeom>
          <a:solidFill>
            <a:srgbClr val="EAF0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0" y="32004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Elimina varianza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I/O y asignación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memoria.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Pipeline y Formato de Salida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Pipeline Snakemake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Docker Build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40280" y="1783080"/>
            <a:ext cx="2743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6032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Benchmark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N=500,1000,1500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2743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Merge CSVs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1783080"/>
            <a:ext cx="27432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6766560" y="1463040"/>
            <a:ext cx="1737360" cy="822960"/>
          </a:xfrm>
          <a:prstGeom prst="roundRect">
            <a:avLst>
              <a:gd name="adj" fmla="val 8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Análisis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Estadístico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Formato CSV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8229600" cy="1463040"/>
          </a:xfrm>
          <a:prstGeom prst="roundRect">
            <a:avLst>
              <a:gd name="adj" fmla="val 6250"/>
            </a:avLst>
          </a:prstGeom>
          <a:solidFill>
            <a:srgbClr val="1B283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1089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language,N,repetition,time_seconds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cpp,500,1,2.051323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go,500,1,0.277601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java,500,1,0.216690
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python,500,1,11.996717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3108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 columnas
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C7293"/>
                </a:solidFill>
              </a:rPr>
              <a:t>language – N – repetition – time_seconds
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EAF0F6"/>
                </a:solidFill>
              </a:rPr>
              <a:t>120 observaciones totales
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EAF0F6"/>
                </a:solidFill>
              </a:rPr>
              <a:t>4 lenguajes × 3 tamaños × 10 reps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04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Entorno de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Ejecución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Características del Entorno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Hardware / Sistema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Equipo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Notebook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Procesador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Intel Core i7-1255U @ 2.60 GHz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5117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RAM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16 GB DDR4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8094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Sistema operativo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Ubuntu 22.04.4 LTS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1071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Arquitectura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x86_64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840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Docker
</a:t>
            </a:r>
            <a:pPr indent="0" marL="0">
              <a:buNone/>
            </a:pPr>
            <a:r>
              <a:rPr lang="en-US" sz="1300" b="1" dirty="0">
                <a:solidFill>
                  <a:srgbClr val="1B2838"/>
                </a:solidFill>
              </a:rPr>
              <a:t>29.8.2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EAF0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3776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</a:rPr>
              <a:t>Imágenes Docker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937760" y="173736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74920" y="1737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C++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gcc:13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-O0 -std=c++17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237744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74920" y="2377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Go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golang:1.22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go build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937760" y="301752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74920" y="3017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Java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eclipse-temurin:21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javac + java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37760" y="3657600"/>
            <a:ext cx="356616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74920" y="3657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Python 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python:3.12-slim
</a:t>
            </a:r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</a:rPr>
              <a:t>CPython puro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05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Primeros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Resultados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838"/>
                </a:solidFill>
              </a:rPr>
              <a:t>Estadísticas Descriptivas</a:t>
            </a:r>
            <a:endParaRPr lang="en-US" sz="3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Lenguaje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N=500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(media ± std)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N=1000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(media ± std)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N=1500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(media ± std)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Go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0.32 ± 0.02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4.72 ± 0.08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21.42 ± 0.63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Java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0.26 ± 0.03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4.65 ± 0.20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27.80 ± 0.34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C++ (-O0)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2.73 ± 0.28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28.00 ± 0.37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</a:rPr>
                        <a:t>97.83 ± 1.18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</a:rPr>
                        <a:t>Python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</a:rPr>
                        <a:t>12.46 ± 0.26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</a:rPr>
                        <a:t>101.88 ± 1.82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</a:rPr>
                        <a:t>342.08 ± 4.55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291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Go y Java son los más rápidos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 – rendimiento similar en N=500 y N=1000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Python es ~16x más lento que Go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 – la brecha crece con N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C++ (-O0) queda en posición intermedia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 – sin optimizaciones del compilador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Tiempo Medio por Lenguaje y Tamaño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Observaciones Clave (N=1500)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96167"/>
                </a:solidFill>
              </a:rPr>
              <a:t>16x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Python vs 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9184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65A82"/>
                </a:solidFill>
              </a:rPr>
              <a:t>4.6x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C++ (-O0) vs Go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26480" y="1188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C7293"/>
                </a:solidFill>
              </a:rPr>
              <a:t>1.3x</a:t>
            </a:r>
            <a:endParaRPr lang="en-US" sz="52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</a:rPr>
              <a:t>más lento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838"/>
                </a:solidFill>
              </a:rPr>
              <a:t>Java vs Go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Baja variabilidad: </a:t>
            </a:r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coeficientes de variación &lt; 5% en todos los lenguajes, indicando mediciones estables.
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Escalamiento O(n³): </a:t>
            </a:r>
            <a:pPr indent="0" marL="0">
              <a:buNone/>
            </a:pPr>
            <a:r>
              <a:rPr lang="en-US" sz="1300" dirty="0">
                <a:solidFill>
                  <a:srgbClr val="1B2838"/>
                </a:solidFill>
              </a:rPr>
              <a:t>al triplicar N (500→1500), los tiempos crecen ~27x, consistente con la complejidad teórica.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Distribución de Tiempos (Boxplot)</a:t>
            </a:r>
            <a:endParaRPr lang="en-US" sz="3400" dirty="0"/>
          </a:p>
        </p:txBody>
      </p:sp>
      <p:pic>
        <p:nvPicPr>
          <p:cNvPr id="3" name="Image 0" descr="/home/claude/matrix-benchmark/results/boxplo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877824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</a:rPr>
              <a:t>Baja dispersión </a:t>
            </a:r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</a:rPr>
              <a:t>en todos los lenguajes (CV &lt; 5%). Las medianas son representativas de cada grupo.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Interacción: Lenguaje × Tamaño</a:t>
            </a:r>
            <a:endParaRPr lang="en-US" sz="3400" dirty="0"/>
          </a:p>
        </p:txBody>
      </p:sp>
      <p:pic>
        <p:nvPicPr>
          <p:cNvPr id="3" name="Image 0" descr="/home/claude/matrix-benchmark/results/interactio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68680"/>
            <a:ext cx="8229600" cy="3749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Mapa de Calor y Speedup vs Python</a:t>
            </a:r>
            <a:endParaRPr lang="en-US" sz="3400" dirty="0"/>
          </a:p>
        </p:txBody>
      </p:sp>
      <p:pic>
        <p:nvPicPr>
          <p:cNvPr id="3" name="Image 0" descr="/home/claude/matrix-benchmark/results/heatmap_ti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868680"/>
            <a:ext cx="4389120" cy="3749040"/>
          </a:xfrm>
          <a:prstGeom prst="rect">
            <a:avLst/>
          </a:prstGeom>
        </p:spPr>
      </p:pic>
      <p:pic>
        <p:nvPicPr>
          <p:cNvPr id="4" name="Image 1" descr="/home/claude/matrix-benchmark/results/speedup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868680"/>
            <a:ext cx="4480560" cy="3749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838"/>
                </a:solidFill>
              </a:rPr>
              <a:t>Comparación de Tiempos con Barras de Error</a:t>
            </a:r>
            <a:endParaRPr lang="en-US" sz="3400" dirty="0"/>
          </a:p>
        </p:txBody>
      </p:sp>
      <p:pic>
        <p:nvPicPr>
          <p:cNvPr id="3" name="Image 0" descr="/home/claude/matrix-benchmark/results/bar_char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8595360" cy="3749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C7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Conclusiones y Próximos Pasos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Hallazgos descriptivos
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Go y Java son los más rápidos
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EAF0F6"/>
                </a:solidFill>
              </a:rPr>
              <a:t>con rendimiento similar en todos los N
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C++ (-O0) queda en posición intermedia
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EAF0F6"/>
                </a:solidFill>
              </a:rPr>
              <a:t>penalizado por la ausencia de
optimizaciones del compilador
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Python es consistentemente el más lento
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EAF0F6"/>
                </a:solidFill>
              </a:rPr>
              <a:t>hasta 16x más lento que Go en N=1500
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Baja variabilidad (CV &lt; 5%)
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EAF0F6"/>
                </a:solidFill>
              </a:rPr>
              <a:t>confirma estabilidad experimental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754880" y="118872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</a:rPr>
              <a:t>Próximos pasos (Semana 4)
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ANOVA de dos factores
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EAF0F6"/>
                </a:solidFill>
              </a:rPr>
              <a:t>Evaluar si las diferencias observadas
son estadísticamente significativas,
considerando lenguaje, tamaño de
matriz y su interacción.
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Tukey HSD post-hoc
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EAF0F6"/>
                </a:solidFill>
              </a:rPr>
              <a:t>Identificar cuáles pares de lenguajes
presentan diferencias significativas
y cuáles forman grupos homogéneos.
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Automatización con Snakemake
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EAF0F6"/>
                </a:solidFill>
              </a:rPr>
              <a:t>Pipeline completo end-to-end.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0916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nchmark Matrices USACH">
  <a:themeElements>
    <a:clrScheme name="Benchmark Matrices USACH">
      <a:dk1>
        <a:srgbClr val="1B2838"/>
      </a:dk1>
      <a:lt1>
        <a:srgbClr val="FFFFFF"/>
      </a:lt1>
      <a:dk2>
        <a:srgbClr val="3A5A7C"/>
      </a:dk2>
      <a:lt2>
        <a:srgbClr val="EAF0F6"/>
      </a:lt2>
      <a:accent1>
        <a:srgbClr val="065A82"/>
      </a:accent1>
      <a:accent2>
        <a:srgbClr val="1C7293"/>
      </a:accent2>
      <a:accent3>
        <a:srgbClr val="21295C"/>
      </a:accent3>
      <a:accent4>
        <a:srgbClr val="F96167"/>
      </a:accent4>
      <a:accent5>
        <a:srgbClr val="2ECC71"/>
      </a:accent5>
      <a:accent6>
        <a:srgbClr val="E67E22"/>
      </a:accent6>
      <a:hlink>
        <a:srgbClr val="065A82"/>
      </a:hlink>
      <a:folHlink>
        <a:srgbClr val="3A5A7C"/>
      </a:folHlink>
    </a:clrScheme>
    <a:fontScheme name="Benchmark Matrices USA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Benchmark Multiplicacion de Matrices - Semana 2</dc:subject>
  <dc:creator>Jorge Fornes - USACH</dc:creator>
  <cp:lastModifiedBy>Jorge Fornes - USACH</cp:lastModifiedBy>
  <cp:revision>1</cp:revision>
  <dcterms:created xsi:type="dcterms:W3CDTF">2026-10-19T15:51:34Z</dcterms:created>
  <dcterms:modified xsi:type="dcterms:W3CDTF">2026-10-19T15:51:34Z</dcterms:modified>
</cp:coreProperties>
</file>