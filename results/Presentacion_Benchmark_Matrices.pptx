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8f73c3f-b902-0731-2c4a-ceac1405471c}">
          <p14:sldIdLst>
            <p14:sldId id="256"/>
          </p14:sldIdLst>
        </p14:section>
        <p14:section name="Introduccion" id="{d5e00c35-3c02-fb31-85cc-8b2ecb4fa96d}">
          <p14:sldIdLst>
            <p14:sldId id="257"/>
            <p14:sldId id="258"/>
          </p14:sldIdLst>
        </p14:section>
        <p14:section name="Pregunta" id="{3713afd0-a08e-9b82-2f1e-7ccd75e915c5}">
          <p14:sldIdLst>
            <p14:sldId id="259"/>
          </p14:sldIdLst>
        </p14:section>
        <p14:section name="Metodologia" id="{53cab05e-9647-6544-d77e-273b0a140c38}">
          <p14:sldIdLst>
            <p14:sldId id="260"/>
            <p14:sldId id="261"/>
            <p14:sldId id="262"/>
          </p14:sldIdLst>
        </p14:section>
        <p14:section name="Resultados" id="{f3d5f06f-1f04-b859-63ec-cbfe5f610968}">
          <p14:sldIdLst>
            <p14:sldId id="263"/>
            <p14:sldId id="264"/>
            <p14:sldId id="265"/>
            <p14:sldId id="266"/>
          </p14:sldIdLst>
        </p14:section>
        <p14:section name="Analisis" id="{5845b133-d561-ff14-7392-cb2376db9a7a}">
          <p14:sldIdLst>
            <p14:sldId id="267"/>
            <p14:sldId id="268"/>
            <p14:sldId id="269"/>
          </p14:sldIdLst>
        </p14:section>
        <p14:section name="Conclusiones" id="{13cc840f-3b8d-dbc0-f27b-2def9856121d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BENCHMARK REPRODUCIBLE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945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</a:rPr>
              <a:t>Multiplicación de Matrices NxN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C++  |  Go  |  Java  |  Python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</a:rPr>
              <a:t>Experimento Computacional Reproducible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</a:rPr>
              <a:t>ACM Artifact Review &amp; Badging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Octubre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50000"/>
                  </a:srgbClr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Introducción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</a:rPr>
              <a:t>¿Qué es este proyecto y por qué es importante?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¿Qué hicimos?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41148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645920"/>
            <a:ext cx="1280160" cy="12801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{ }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4 Lenguajes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C++, Go, Java,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2468880" cy="41148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1645920"/>
            <a:ext cx="1280160" cy="12801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6052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NxN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3 Tamaños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N = 500, 1000, 1500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468880" cy="41148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1645920"/>
            <a:ext cx="1280160" cy="1280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x10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10 Repeticiones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Por combinación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468880" cy="41148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29800" y="1645920"/>
            <a:ext cx="1280160" cy="12801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2980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120 Mediciones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Total de observaciones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Pregunta de investigación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360152" cy="2011680"/>
          </a:xfrm>
          <a:prstGeom prst="roundRect">
            <a:avLst>
              <a:gd name="adj" fmla="val 6818"/>
            </a:avLst>
          </a:prstGeom>
          <a:solidFill>
            <a:srgbClr val="EEF4F9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554480"/>
            <a:ext cx="9811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3A5F"/>
                </a:solidFill>
              </a:rPr>
              <a:t>¿Existen diferencias estadísticamente significativas en el tiempo de ejecución del algoritmo naive de multiplicación de matrices NxN entre implementaciones equivalentes en C++, Go, Java y Python?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H₀: 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No hay diferencias significativas entre lenguajes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H₁: </a:t>
            </a:r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Al menos un lenguaje es significativamente diferente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50000"/>
                  </a:srgbClr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Metodología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</a:rPr>
              <a:t>¿Cómo se diseñó y ejecutó el experimento?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Diseño experimental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27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146304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Algoritmo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Multiplicación naive O(n³)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Triple bucle anidado idéntico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en los 4 lenguajes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2700000">
              <a:srgbClr val="DDDD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46304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Datos de entrada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Generador LCG con semilla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fija (seed=42 y seed=43)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Matrices idénticas en todos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2700000">
              <a:srgbClr val="DDDDD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18320" y="146304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Medición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Solo se cronometra 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multiplicación. Generación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e inicialización excluidas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Herramientas de reproducibilidad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4747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Docker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Contenedores aislados por lenguaje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gcc:13 | golang:1.22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eclipse-temurin:21 | python:3.12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371600"/>
            <a:ext cx="3474720" cy="7315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Snakemake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Pipeline de automatización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Ejecuta los 120 benchmarks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y el análisis estadístico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371600"/>
            <a:ext cx="347472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 + GitHub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Control de versiones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Repositorio público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github.com/jffp-alt/matrix-benchmark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50000"/>
                  </a:srgbClr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Resultados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</a:rPr>
              <a:t>¿Qué encontramos?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Tiempos promedio de ejecución (segundos)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9445752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Lenguaje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N=500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N=1000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N=1500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C++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2.73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28.00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97.83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Go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0.32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4.72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21.42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Java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0.26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4.65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27.80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Python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</a:rPr>
                        <a:t>12.46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</a:rPr>
                        <a:t>101.88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</a:rPr>
                        <a:t>342.08</a:t>
                      </a:r>
                      <a:endParaRPr lang="en-US" sz="13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4389120"/>
            <a:ext cx="4572000" cy="1645920"/>
          </a:xfrm>
          <a:prstGeom prst="roundRect">
            <a:avLst>
              <a:gd name="adj" fmla="val 5556"/>
            </a:avLst>
          </a:prstGeom>
          <a:solidFill>
            <a:srgbClr val="EEF9E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554480" y="44805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Más rápidos
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Go y Java: ~0.3s para N=500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Prácticamente equivalentes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45352" y="4389120"/>
            <a:ext cx="4572000" cy="1645920"/>
          </a:xfrm>
          <a:prstGeom prst="roundRect">
            <a:avLst>
              <a:gd name="adj" fmla="val 5556"/>
            </a:avLst>
          </a:prstGeom>
          <a:solidFill>
            <a:srgbClr val="FDE8E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28232" y="44805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Más lento
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Python: 342s para N=1500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16x más lento que Go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Distribución de tiempos (Boxplot)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69848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Python domina los tiempos altos. Go y Java son los más rápidos con baja variabilidad.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Gráfico de interacción: Lenguaje × Tamaño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941832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Las líneas no son paralelas → interacción significativa. Python crece mucho más rápido con 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50000"/>
                  </a:srgbClr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Análisis estadístico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</a:rPr>
              <a:t>ANOVA + Tukey HSD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ANOVA de dos factores con interacción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743200"/>
                <a:gridCol w="2587752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p-valor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Lenguaje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62,317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1.09e-174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Significativo ***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Tamaño (N)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68,794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2.01e-168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Significativo ***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Lenguaje × N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25,490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1.03e-167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Significativo ***</a:t>
                      </a:r>
                      <a:endParaRPr lang="en-US" sz="14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4114800"/>
            <a:ext cx="9445752" cy="1828800"/>
          </a:xfrm>
          <a:prstGeom prst="roundRect">
            <a:avLst>
              <a:gd name="adj" fmla="val 7500"/>
            </a:avLst>
          </a:prstGeom>
          <a:solidFill>
            <a:srgbClr val="EEF4F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645920" y="4206240"/>
            <a:ext cx="88971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Todos los factores son altamente significativos </a:t>
            </a:r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(p &lt; 0.001)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El lenguaje, el tamaño de matriz y su interacción afectan significativamente el tiempo de ejecución.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Comparaciones Tukey HSD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Python vs Go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Δ 143.3s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 = &lt; 0.001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Significativa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Python vs Java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Δ 141.2s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 = &lt; 0.001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Significativa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DE8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Python vs C++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Δ 109.3s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 = &lt; 0.001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Significativa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EEF9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C++ vs Go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Δ 34.0s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 = 0.289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No significativa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EEF9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C++ vs Java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Δ 31.9s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 = 0.344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No significativa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07492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EEF9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074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Go vs Java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Δ 2.1s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 = 0.999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No significativa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50000"/>
                  </a:srgbClr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Hallazgos principales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725912" cy="1097280"/>
          </a:xfrm>
          <a:prstGeom prst="roundRect">
            <a:avLst>
              <a:gd name="adj" fmla="val 8333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 rechaza H₀: Sí existen diferencias significativas entre lenguajes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26060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560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Go y Java son los más rápidos, sin diferencias significativas entre ellos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5204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C++ sin optimizaciones (-O0) tiene rendimiento intermedio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44348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389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Python (CPython) es ~16x más lento que Go/Java para N=1500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53492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La brecha de rendimiento se amplifica con matrices más grandes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Criterios ACM Artifact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3108960" cy="3474720"/>
          </a:xfrm>
          <a:prstGeom prst="roundRect">
            <a:avLst>
              <a:gd name="adj" fmla="val 4412"/>
            </a:avLst>
          </a:prstGeom>
          <a:solidFill>
            <a:srgbClr val="2ECC7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Functional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código se ejecuta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y produce los resultados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documentados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108960" cy="3474720"/>
          </a:xfrm>
          <a:prstGeom prst="roundRect">
            <a:avLst>
              <a:gd name="adj" fmla="val 4412"/>
            </a:avLst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Reusable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 + Snakemake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Semilla fija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Documentación completa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0" y="1828800"/>
            <a:ext cx="3108960" cy="3474720"/>
          </a:xfrm>
          <a:prstGeom prst="roundRect">
            <a:avLst>
              <a:gd name="adj" fmla="val 4412"/>
            </a:avLst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Available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GitHub público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Licencia MIT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Zenodo (pendiente DOI)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</a:rPr>
              <a:t>github.com/jffp-alt/matrix-benchmark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mark Matrices">
  <a:themeElements>
    <a:clrScheme name="Benchmark Matrices">
      <a:dk1>
        <a:srgbClr val="1E3A5F"/>
      </a:dk1>
      <a:lt1>
        <a:srgbClr val="FFFFFF"/>
      </a:lt1>
      <a:dk2>
        <a:srgbClr val="2C3E50"/>
      </a:dk2>
      <a:lt2>
        <a:srgbClr val="F0F4F8"/>
      </a:lt2>
      <a:accent1>
        <a:srgbClr val="2E86AB"/>
      </a:accent1>
      <a:accent2>
        <a:srgbClr val="E74C3C"/>
      </a:accent2>
      <a:accent3>
        <a:srgbClr val="2ECC71"/>
      </a:accent3>
      <a:accent4>
        <a:srgbClr val="F39C12"/>
      </a:accent4>
      <a:accent5>
        <a:srgbClr val="9B59B6"/>
      </a:accent5>
      <a:accent6>
        <a:srgbClr val="1ABC9C"/>
      </a:accent6>
      <a:hlink>
        <a:srgbClr val="2E86AB"/>
      </a:hlink>
      <a:folHlink>
        <a:srgbClr val="9B59B6"/>
      </a:folHlink>
    </a:clrScheme>
    <a:fontScheme name="Benchmark Matric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Reproducible - Multiplicacion de Matrices NxN</dc:title>
  <dc:subject>PptxGenJS Presentation</dc:subject>
  <dc:creator>Benchmark Matrices</dc:creator>
  <cp:lastModifiedBy>Benchmark Matrices</cp:lastModifiedBy>
  <cp:revision>1</cp:revision>
  <dcterms:created xsi:type="dcterms:W3CDTF">2026-10-12T18:56:03Z</dcterms:created>
  <dcterms:modified xsi:type="dcterms:W3CDTF">2026-10-12T18:56:03Z</dcterms:modified>
</cp:coreProperties>
</file>