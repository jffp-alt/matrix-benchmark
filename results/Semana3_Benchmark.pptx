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095" autoAdjust="0"/>
  </p:normalViewPr>
  <p:slideViewPr>
    <p:cSldViewPr snapToGrid="0" snapToObjects="1">
      <p:cViewPr varScale="1">
        <p:scale>
          <a:sx n="93" d="100"/>
          <a:sy n="93" d="100"/>
        </p:scale>
        <p:origin x="11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3099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ES" b="1" dirty="0" smtClean="0"/>
              <a:t>Algoritmo</a:t>
            </a:r>
            <a:r>
              <a:rPr lang="es-ES" dirty="0" smtClean="0"/>
              <a:t> — </a:t>
            </a:r>
            <a:r>
              <a:rPr lang="es-ES" i="1" dirty="0" smtClean="0"/>
              <a:t>¿Qué se midió?</a:t>
            </a: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Se usó la forma más básica de multiplicar matrices: tres bucles uno dentro del otro (O(n³)). Matrices de 500×500, repetido 10 veces, siempre con la misma semilla para que los resultados sean reproducibles.</a:t>
            </a:r>
          </a:p>
          <a:p>
            <a:pPr rtl="0"/>
            <a:r>
              <a:rPr lang="es-ES" b="1" dirty="0" smtClean="0"/>
              <a:t>Generador LCG</a:t>
            </a:r>
            <a:r>
              <a:rPr lang="es-ES" dirty="0" smtClean="0"/>
              <a:t> — </a:t>
            </a:r>
            <a:r>
              <a:rPr lang="es-ES" i="1" dirty="0" smtClean="0"/>
              <a:t>¿Cómo se garantizó que todos partieran igual?</a:t>
            </a: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Para que C++, </a:t>
            </a:r>
            <a:r>
              <a:rPr lang="es-ES" dirty="0" err="1" smtClean="0"/>
              <a:t>Go</a:t>
            </a:r>
            <a:r>
              <a:rPr lang="es-ES" dirty="0" smtClean="0"/>
              <a:t>, Java y Python multiplicaran </a:t>
            </a:r>
            <a:r>
              <a:rPr lang="es-ES" b="1" dirty="0" smtClean="0"/>
              <a:t>exactamente las mismas matrices</a:t>
            </a:r>
            <a:r>
              <a:rPr lang="es-ES" dirty="0" smtClean="0"/>
              <a:t>, todos usan la misma fórmula matemática para generar los números al azar. Sin esto, cada lenguaje tendría matrices distintas y la comparación no sería justa.</a:t>
            </a:r>
          </a:p>
          <a:p>
            <a:pPr rtl="0"/>
            <a:r>
              <a:rPr lang="es-ES" b="1" dirty="0" smtClean="0"/>
              <a:t>Entorno </a:t>
            </a:r>
            <a:r>
              <a:rPr lang="es-ES" b="1" dirty="0" err="1" smtClean="0"/>
              <a:t>Docker</a:t>
            </a:r>
            <a:r>
              <a:rPr lang="es-ES" dirty="0" smtClean="0"/>
              <a:t> — </a:t>
            </a:r>
            <a:r>
              <a:rPr lang="es-ES" i="1" dirty="0" smtClean="0"/>
              <a:t>¿Dónde se ejecutó?</a:t>
            </a: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Cada lenguaje corre dentro de su propio contenedor </a:t>
            </a:r>
            <a:r>
              <a:rPr lang="es-ES" dirty="0" err="1" smtClean="0"/>
              <a:t>Docker</a:t>
            </a:r>
            <a:r>
              <a:rPr lang="es-ES" dirty="0" smtClean="0"/>
              <a:t> aislado. Se prepararon 8 en total: 4 en Linux y 4 en Windows. Los scripts de </a:t>
            </a:r>
            <a:r>
              <a:rPr lang="es-ES" dirty="0" err="1" smtClean="0"/>
              <a:t>PowerShell</a:t>
            </a:r>
            <a:r>
              <a:rPr lang="es-ES" dirty="0" smtClean="0"/>
              <a:t> automatizan todo el proceso.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ES" b="1" dirty="0" smtClean="0"/>
              <a:t>C++ — 1.0×</a:t>
            </a:r>
            <a:r>
              <a:rPr lang="es-ES" dirty="0" smtClean="0"/>
              <a:t> </a:t>
            </a:r>
            <a:r>
              <a:rPr lang="es-ES" i="1" dirty="0" smtClean="0"/>
              <a:t>(el más rápido)</a:t>
            </a: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Se compila directo a código máquina. No tiene GC (</a:t>
            </a:r>
            <a:r>
              <a:rPr lang="es-ES" dirty="0" err="1" smtClean="0"/>
              <a:t>Garbage</a:t>
            </a:r>
            <a:r>
              <a:rPr lang="es-ES" dirty="0" smtClean="0"/>
              <a:t> </a:t>
            </a:r>
            <a:r>
              <a:rPr lang="es-ES" dirty="0" err="1" smtClean="0"/>
              <a:t>Collector</a:t>
            </a:r>
            <a:r>
              <a:rPr lang="es-ES" dirty="0" smtClean="0"/>
              <a:t> o Recolector de Basura, el mecanismo que libera memoria automáticamente), así que nunca hace pausas para limpiar. Es como hablarle directamente al procesador. Se usó -O0 para desactivar optimizaciones y medir el algoritmo puro, no el compilador.</a:t>
            </a:r>
          </a:p>
          <a:p>
            <a:pPr rtl="0"/>
            <a:r>
              <a:rPr lang="es-ES" b="1" dirty="0" smtClean="0"/>
              <a:t>Java — 1.4–1.5×</a:t>
            </a:r>
            <a:r>
              <a:rPr lang="es-ES" dirty="0" smtClean="0"/>
              <a:t> </a:t>
            </a:r>
            <a:r>
              <a:rPr lang="es-ES" i="1" dirty="0" smtClean="0"/>
              <a:t>(sorpresa positiva)</a:t>
            </a: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Tiene JIT (</a:t>
            </a:r>
            <a:r>
              <a:rPr lang="es-ES" dirty="0" err="1" smtClean="0"/>
              <a:t>Just</a:t>
            </a:r>
            <a:r>
              <a:rPr lang="es-ES" dirty="0" smtClean="0"/>
              <a:t>-In-Time, técnica de compilación que existe desde los años 90 y que optimiza el código mientras el programa está corriendo, en vez de interpretarlo línea por línea cada vez), lo que le permite superar a </a:t>
            </a:r>
            <a:r>
              <a:rPr lang="es-ES" dirty="0" err="1" smtClean="0"/>
              <a:t>Go</a:t>
            </a:r>
            <a:r>
              <a:rPr lang="es-ES" dirty="0" smtClean="0"/>
              <a:t> en Linux. Su GC (Recolector de Basura) es maduro y eficiente. En Windows es más lento porque la JVM demora más en “calentar” y aprovechar el JIT.</a:t>
            </a:r>
          </a:p>
          <a:p>
            <a:pPr rtl="0"/>
            <a:r>
              <a:rPr lang="es-ES" b="1" dirty="0" err="1" smtClean="0"/>
              <a:t>Go</a:t>
            </a:r>
            <a:r>
              <a:rPr lang="es-ES" b="1" dirty="0" smtClean="0"/>
              <a:t> — 2.3–2.5×</a:t>
            </a:r>
            <a:r>
              <a:rPr lang="es-ES" dirty="0" smtClean="0"/>
              <a:t> </a:t>
            </a:r>
            <a:r>
              <a:rPr lang="es-ES" i="1" dirty="0" smtClean="0"/>
              <a:t>(consistente pero más lento)</a:t>
            </a: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No tiene JIT: el código se compila una vez antes de ejecutarse y no se optimiza en tiempo de ejecución. Su GC (Recolector de Basura) trabaja en paralelo al programa, por eso casi no se nota diferencia entre Linux y Windows (+1%). Es el más predecible de los cuatro entre entornos.</a:t>
            </a:r>
          </a:p>
          <a:p>
            <a:pPr rtl="0"/>
            <a:r>
              <a:rPr lang="es-ES" b="1" dirty="0" smtClean="0"/>
              <a:t>Python — 67–76×</a:t>
            </a:r>
            <a:r>
              <a:rPr lang="es-ES" dirty="0" smtClean="0"/>
              <a:t> </a:t>
            </a:r>
            <a:r>
              <a:rPr lang="es-ES" i="1" dirty="0" smtClean="0"/>
              <a:t>(muy lento)</a:t>
            </a: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Tres razones acumuladas: el </a:t>
            </a:r>
            <a:r>
              <a:rPr lang="es-ES" b="1" dirty="0" smtClean="0"/>
              <a:t>GIL</a:t>
            </a:r>
            <a:r>
              <a:rPr lang="es-ES" dirty="0" smtClean="0"/>
              <a:t> (candado interno que le impide usar más de un núcleo del procesador a la vez), la ausencia de JIT en su versión estándar </a:t>
            </a:r>
            <a:r>
              <a:rPr lang="es-ES" dirty="0" err="1" smtClean="0"/>
              <a:t>CPython</a:t>
            </a:r>
            <a:r>
              <a:rPr lang="es-ES" dirty="0" smtClean="0"/>
              <a:t> (interpreta cada línea de código cada vez que se ejecuta, sin optimizar nunca), y su GC (Recolector de Basura) combinado con bucles Python puros sin ayuda de librerías optimizadas como </a:t>
            </a:r>
            <a:r>
              <a:rPr lang="es-ES" dirty="0" err="1" smtClean="0"/>
              <a:t>NumPy</a:t>
            </a:r>
            <a:r>
              <a:rPr lang="es-ES" dirty="0" smtClean="0"/>
              <a:t>. Con </a:t>
            </a:r>
            <a:r>
              <a:rPr lang="es-ES" dirty="0" err="1" smtClean="0"/>
              <a:t>NumPy</a:t>
            </a:r>
            <a:r>
              <a:rPr lang="es-ES" dirty="0" smtClean="0"/>
              <a:t> esto bajaría a ~1–2×, pero eso es otra historia.</a:t>
            </a:r>
          </a:p>
          <a:p>
            <a:pPr rtl="0"/>
            <a:r>
              <a:rPr lang="es-ES" b="1" dirty="0" smtClean="0"/>
              <a:t>En una frase:</a:t>
            </a:r>
            <a:r>
              <a:rPr lang="es-ES" dirty="0" smtClean="0"/>
              <a:t> C++ gana por no tener GC ni intermediarios, Java sorprende gracias al JIT, </a:t>
            </a:r>
            <a:r>
              <a:rPr lang="es-ES" dirty="0" err="1" smtClean="0"/>
              <a:t>Go</a:t>
            </a:r>
            <a:r>
              <a:rPr lang="es-ES" dirty="0" smtClean="0"/>
              <a:t> es predecible pero sin JIT, y Python necesita ayuda externa para competir.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 smtClean="0"/>
              <a:t>LCG (Linear </a:t>
            </a:r>
            <a:r>
              <a:rPr lang="es-ES" b="1" dirty="0" err="1" smtClean="0"/>
              <a:t>Congruential</a:t>
            </a:r>
            <a:r>
              <a:rPr lang="es-ES" b="1" dirty="0" smtClean="0"/>
              <a:t> </a:t>
            </a:r>
            <a:r>
              <a:rPr lang="es-ES" b="1" dirty="0" err="1" smtClean="0"/>
              <a:t>Generator</a:t>
            </a:r>
            <a:r>
              <a:rPr lang="es-ES" b="1" dirty="0" smtClean="0"/>
              <a:t> o Generador Lineal </a:t>
            </a:r>
            <a:r>
              <a:rPr lang="es-ES" b="1" dirty="0" err="1" smtClean="0"/>
              <a:t>Congruencial</a:t>
            </a:r>
            <a:r>
              <a:rPr lang="es-ES" b="1" dirty="0" smtClean="0"/>
              <a:t>)</a:t>
            </a:r>
            <a:r>
              <a:rPr lang="es-ES" dirty="0" smtClean="0"/>
              <a:t> es una fórmula matemática que genera una secuencia de números que parecen aleatorios pero son completamente predecibles si conoces el punto de partida (la semilla).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ES" b="1" dirty="0" smtClean="0"/>
              <a:t>GC = </a:t>
            </a:r>
            <a:r>
              <a:rPr lang="es-ES" b="1" dirty="0" err="1" smtClean="0"/>
              <a:t>Garbage</a:t>
            </a:r>
            <a:r>
              <a:rPr lang="es-ES" b="1" dirty="0" smtClean="0"/>
              <a:t> </a:t>
            </a:r>
            <a:r>
              <a:rPr lang="es-ES" b="1" dirty="0" err="1" smtClean="0"/>
              <a:t>Collector</a:t>
            </a:r>
            <a:r>
              <a:rPr lang="es-ES" dirty="0" smtClean="0"/>
              <a:t> (Recolector de Basura)</a:t>
            </a:r>
          </a:p>
          <a:p>
            <a:pPr rtl="0"/>
            <a:r>
              <a:rPr lang="es-ES" dirty="0" smtClean="0"/>
              <a:t>Es un mecanismo automático que tiene algunos lenguajes para </a:t>
            </a:r>
            <a:r>
              <a:rPr lang="es-ES" b="1" dirty="0" smtClean="0"/>
              <a:t>liberar memoria</a:t>
            </a:r>
            <a:r>
              <a:rPr lang="es-ES" dirty="0" smtClean="0"/>
              <a:t> que ya no se usa</a:t>
            </a:r>
          </a:p>
          <a:p>
            <a:pPr rtl="0"/>
            <a:r>
              <a:rPr lang="es-ES" b="1" dirty="0" smtClean="0"/>
              <a:t>LCG = Linear </a:t>
            </a:r>
            <a:r>
              <a:rPr lang="es-ES" b="1" dirty="0" err="1" smtClean="0"/>
              <a:t>Congruential</a:t>
            </a:r>
            <a:r>
              <a:rPr lang="es-ES" b="1" dirty="0" smtClean="0"/>
              <a:t> </a:t>
            </a:r>
            <a:r>
              <a:rPr lang="es-ES" b="1" dirty="0" err="1" smtClean="0"/>
              <a:t>Generator</a:t>
            </a:r>
            <a:r>
              <a:rPr lang="es-ES" dirty="0" smtClean="0"/>
              <a:t> (Generador Lineal </a:t>
            </a:r>
            <a:r>
              <a:rPr lang="es-ES" dirty="0" err="1" smtClean="0"/>
              <a:t>Congruencial</a:t>
            </a:r>
            <a:r>
              <a:rPr lang="es-ES" dirty="0" smtClean="0"/>
              <a:t>)</a:t>
            </a:r>
          </a:p>
          <a:p>
            <a:pPr rtl="0"/>
            <a:r>
              <a:rPr lang="es-ES" dirty="0" smtClean="0"/>
              <a:t>Es una fórmula matemática para generar números “al azar” de forma </a:t>
            </a:r>
            <a:r>
              <a:rPr lang="es-ES" b="1" dirty="0" smtClean="0"/>
              <a:t>predecible y reproducible</a:t>
            </a:r>
            <a:r>
              <a:rPr lang="es-ES" dirty="0" smtClean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jffp-alt/matrix-benchmark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11430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28600" y="109728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D6B"/>
                </a:solidFill>
              </a:rPr>
              <a:t>BENCHMARK REPRODUCIBLE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228600" y="1719072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E97500"/>
                </a:solidFill>
              </a:rPr>
              <a:t>Multiplicación de Matrices NxN — Semana 3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228600" y="208483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2D6B"/>
                </a:solidFill>
              </a:rPr>
              <a:t>C++ | Go | Java | Python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228600" y="239572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FAFAF"/>
                </a:solidFill>
              </a:rPr>
              <a:t>Experimento Computacional Reproducible  ·  ACM Artifact Review &amp;amp; Badging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8600" y="2816352"/>
            <a:ext cx="8503920" cy="22860"/>
          </a:xfrm>
          <a:prstGeom prst="rect">
            <a:avLst/>
          </a:prstGeom>
          <a:solidFill>
            <a:srgbClr val="E975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28600" y="285292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FAFAF"/>
                </a:solidFill>
              </a:rPr>
              <a:t>Docker: Linux Containers + Windows Containers  ·  Metodología ACM Functional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28600" y="333756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A4A4A"/>
                </a:solidFill>
              </a:rPr>
              <a:t>Profesor: Alcides Quispe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28600" y="361188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2D6B"/>
                </a:solidFill>
              </a:rPr>
              <a:t>Alumno: Jorge Fornés Pavez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4850892"/>
            <a:ext cx="9144000" cy="22860"/>
          </a:xfrm>
          <a:prstGeom prst="rect">
            <a:avLst/>
          </a:prstGeom>
          <a:solidFill>
            <a:srgbClr val="E9750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9728" y="48691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FAFAF"/>
                </a:solidFill>
              </a:rPr>
              <a:t>Octubre 2026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3200400" y="48691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FAFAF"/>
                </a:solidFill>
              </a:rPr>
              <a:t>Benchmark reproducible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9144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E97500"/>
                </a:solidFill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1488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2D6B"/>
                </a:solidFill>
              </a:rPr>
              <a:t>Metodología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8529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FAFAF"/>
                </a:solidFill>
              </a:rPr>
              <a:t>¿Cómo se diseñó y ejecutó el experimento en Semana 3?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50892"/>
            <a:ext cx="9144000" cy="22860"/>
          </a:xfrm>
          <a:prstGeom prst="rect">
            <a:avLst/>
          </a:prstGeom>
          <a:solidFill>
            <a:srgbClr val="E975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" y="48691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FAFAF"/>
                </a:solidFill>
              </a:rPr>
              <a:t>Octubre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48691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FAFAF"/>
                </a:solidFill>
              </a:rPr>
              <a:t>Benchmark reproducible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48691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FAFAF"/>
                </a:solidFill>
              </a:rPr>
              <a:t>2 /12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54864"/>
            <a:ext cx="96012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50892"/>
            <a:ext cx="9144000" cy="22860"/>
          </a:xfrm>
          <a:prstGeom prst="rect">
            <a:avLst/>
          </a:prstGeom>
          <a:solidFill>
            <a:srgbClr val="E97500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9728" y="48691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FAFAF"/>
                </a:solidFill>
              </a:rPr>
              <a:t>Octubre 2026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3200400" y="48691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FAFAF"/>
                </a:solidFill>
              </a:rPr>
              <a:t>Benchmark reproducible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48691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FAFAF"/>
                </a:solidFill>
              </a:rPr>
              <a:t>3 /12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91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2D6B"/>
                </a:solidFill>
              </a:rPr>
              <a:t>Diseño experimental — Semana 3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188720" y="749808"/>
            <a:ext cx="7772400" cy="22860"/>
          </a:xfrm>
          <a:prstGeom prst="rect">
            <a:avLst/>
          </a:prstGeom>
          <a:solidFill>
            <a:srgbClr val="E97500"/>
          </a:solidFill>
          <a:ln/>
        </p:spPr>
      </p:sp>
      <p:sp>
        <p:nvSpPr>
          <p:cNvPr id="9" name="Shape 6"/>
          <p:cNvSpPr/>
          <p:nvPr/>
        </p:nvSpPr>
        <p:spPr>
          <a:xfrm>
            <a:off x="1234440" y="877824"/>
            <a:ext cx="566928" cy="566928"/>
          </a:xfrm>
          <a:prstGeom prst="ellipse">
            <a:avLst/>
          </a:prstGeom>
          <a:solidFill>
            <a:srgbClr val="002D6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234440" y="8778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65760" y="1481328"/>
            <a:ext cx="2606040" cy="2697480"/>
          </a:xfrm>
          <a:prstGeom prst="roundRect">
            <a:avLst>
              <a:gd name="adj" fmla="val 2807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5760" y="153619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D6B"/>
                </a:solidFill>
              </a:rPr>
              <a:t>Algoritmo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" y="196596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</a:rPr>
              <a:t>Multiplicación naive O(n³)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" y="238658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</a:rPr>
              <a:t>Triple bucle anidado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" y="280720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</a:rPr>
              <a:t>N = 500, 10 repeticiones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75488" y="3227832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</a:rPr>
              <a:t>Semilla fija (seed = 42)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60520" y="877824"/>
            <a:ext cx="566928" cy="566928"/>
          </a:xfrm>
          <a:prstGeom prst="ellipse">
            <a:avLst/>
          </a:prstGeom>
          <a:solidFill>
            <a:srgbClr val="002D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160520" y="8778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3291840" y="1481328"/>
            <a:ext cx="2606040" cy="2697480"/>
          </a:xfrm>
          <a:prstGeom prst="roundRect">
            <a:avLst>
              <a:gd name="adj" fmla="val 2807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91840" y="153619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D6B"/>
                </a:solidFill>
              </a:rPr>
              <a:t>Generador LCG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401568" y="196596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</a:rPr>
              <a:t>Idéntico en los 4 lenguajes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3401568" y="238658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</a:rPr>
              <a:t>state × 6364136… + 14426…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3401568" y="280720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</a:rPr>
              <a:t>value = (state &gt;&gt; 33) % 10000 / 100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3401568" y="3227832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</a:rPr>
              <a:t>Garantiza matrices idénticas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086600" y="877824"/>
            <a:ext cx="566928" cy="566928"/>
          </a:xfrm>
          <a:prstGeom prst="ellipse">
            <a:avLst/>
          </a:prstGeom>
          <a:solidFill>
            <a:srgbClr val="002D6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086600" y="8778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6217920" y="1481328"/>
            <a:ext cx="2606040" cy="2697480"/>
          </a:xfrm>
          <a:prstGeom prst="roundRect">
            <a:avLst>
              <a:gd name="adj" fmla="val 2807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217920" y="153619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D6B"/>
                </a:solidFill>
              </a:rPr>
              <a:t>Entorno Docker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327648" y="196596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</a:rPr>
              <a:t>8 imágenes Docker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327648" y="238658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</a:rPr>
              <a:t>4 Linux + 4 Windows containers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327648" y="280720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</a:rPr>
              <a:t>PowerShell scripts (run_linux.ps1,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327648" y="3227832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</a:rPr>
              <a:t>run_windows.ps1)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54864"/>
            <a:ext cx="96012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50892"/>
            <a:ext cx="9144000" cy="22860"/>
          </a:xfrm>
          <a:prstGeom prst="rect">
            <a:avLst/>
          </a:prstGeom>
          <a:solidFill>
            <a:srgbClr val="E97500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9728" y="48691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FAFAF"/>
                </a:solidFill>
              </a:rPr>
              <a:t>Octubre 2026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3200400" y="48691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FAFAF"/>
                </a:solidFill>
              </a:rPr>
              <a:t>Benchmark reproducible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48691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FAFAF"/>
                </a:solidFill>
              </a:rPr>
              <a:t>4 /12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91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2D6B"/>
                </a:solidFill>
              </a:rPr>
              <a:t>Arquitectura Docker — 8 imágenes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188720" y="749808"/>
            <a:ext cx="7772400" cy="22860"/>
          </a:xfrm>
          <a:prstGeom prst="rect">
            <a:avLst/>
          </a:prstGeom>
          <a:solidFill>
            <a:srgbClr val="E975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37160" y="8961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2D6B"/>
                </a:solidFill>
              </a:rPr>
              <a:t>🐧  Linux containers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37160" y="2670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2D6B"/>
                </a:solidFill>
              </a:rPr>
              <a:t>🪟  Windows containers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9728" y="1243584"/>
            <a:ext cx="2057400" cy="1234440"/>
          </a:xfrm>
          <a:prstGeom prst="roundRect">
            <a:avLst>
              <a:gd name="adj" fmla="val 5185"/>
            </a:avLst>
          </a:prstGeom>
          <a:solidFill>
            <a:srgbClr val="F4F4F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5448" y="1298448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1A6FC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55448" y="129844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C++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19456" y="16824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FAFAF"/>
                </a:solidFill>
              </a:rPr>
              <a:t>FROM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219456" y="190195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2D6B"/>
                </a:solidFill>
              </a:rPr>
              <a:t>gcc:13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350008" y="1243584"/>
            <a:ext cx="2057400" cy="1234440"/>
          </a:xfrm>
          <a:prstGeom prst="roundRect">
            <a:avLst>
              <a:gd name="adj" fmla="val 5185"/>
            </a:avLst>
          </a:prstGeom>
          <a:solidFill>
            <a:srgbClr val="F4F4F4"/>
          </a:solidFill>
          <a:ln w="12700">
            <a:solidFill>
              <a:srgbClr val="0FA98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395728" y="1298448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0FA98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2395728" y="129844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2459736" y="16824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FAFAF"/>
                </a:solidFill>
              </a:rPr>
              <a:t>FROM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2459736" y="190195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2D6B"/>
                </a:solidFill>
              </a:rPr>
              <a:t>golang:1.22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90288" y="1243584"/>
            <a:ext cx="2057400" cy="1234440"/>
          </a:xfrm>
          <a:prstGeom prst="roundRect">
            <a:avLst>
              <a:gd name="adj" fmla="val 5185"/>
            </a:avLst>
          </a:prstGeom>
          <a:solidFill>
            <a:srgbClr val="F4F4F4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36008" y="1298448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E08A3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636008" y="129844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Java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700016" y="16824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FAFAF"/>
                </a:solidFill>
              </a:rPr>
              <a:t>FROM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4700016" y="190195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2D6B"/>
                </a:solidFill>
              </a:rPr>
              <a:t>eclipse-temurin:21-jdk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830568" y="1243584"/>
            <a:ext cx="2057400" cy="1234440"/>
          </a:xfrm>
          <a:prstGeom prst="roundRect">
            <a:avLst>
              <a:gd name="adj" fmla="val 5185"/>
            </a:avLst>
          </a:prstGeom>
          <a:solidFill>
            <a:srgbClr val="F4F4F4"/>
          </a:solidFill>
          <a:ln w="12700">
            <a:solidFill>
              <a:srgbClr val="7B4FB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76288" y="1298448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7B4FB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876288" y="129844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940296" y="16824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FAFAF"/>
                </a:solidFill>
              </a:rPr>
              <a:t>FROM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6940296" y="190195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2D6B"/>
                </a:solidFill>
              </a:rPr>
              <a:t>python:3.12-slim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109728" y="3017520"/>
            <a:ext cx="2057400" cy="1234440"/>
          </a:xfrm>
          <a:prstGeom prst="roundRect">
            <a:avLst>
              <a:gd name="adj" fmla="val 5185"/>
            </a:avLst>
          </a:prstGeom>
          <a:solidFill>
            <a:srgbClr val="F4F4F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55448" y="3072384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1A6FC4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55448" y="307238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C++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219456" y="34564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FAFAF"/>
                </a:solidFill>
              </a:rPr>
              <a:t>FROM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219456" y="3675888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2D6B"/>
                </a:solidFill>
              </a:rPr>
              <a:t>servercore + MinGW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2350008" y="3017520"/>
            <a:ext cx="2057400" cy="1234440"/>
          </a:xfrm>
          <a:prstGeom prst="roundRect">
            <a:avLst>
              <a:gd name="adj" fmla="val 5185"/>
            </a:avLst>
          </a:prstGeom>
          <a:solidFill>
            <a:srgbClr val="F4F4F4"/>
          </a:solidFill>
          <a:ln w="12700">
            <a:solidFill>
              <a:srgbClr val="0FA98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95728" y="3072384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0FA982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2395728" y="307238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Go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2459736" y="34564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FAFAF"/>
                </a:solidFill>
              </a:rPr>
              <a:t>FROM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2459736" y="3675888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2D6B"/>
                </a:solidFill>
              </a:rPr>
              <a:t>golang:1.22-winsrv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590288" y="3017520"/>
            <a:ext cx="2057400" cy="1234440"/>
          </a:xfrm>
          <a:prstGeom prst="roundRect">
            <a:avLst>
              <a:gd name="adj" fmla="val 5185"/>
            </a:avLst>
          </a:prstGeom>
          <a:solidFill>
            <a:srgbClr val="F4F4F4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636008" y="3072384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E08A3C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4636008" y="307238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Java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4700016" y="34564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FAFAF"/>
                </a:solidFill>
              </a:rPr>
              <a:t>FROM</a:t>
            </a:r>
            <a:endParaRPr lang="en-US" sz="800" dirty="0"/>
          </a:p>
        </p:txBody>
      </p:sp>
      <p:sp>
        <p:nvSpPr>
          <p:cNvPr id="45" name="Text 42"/>
          <p:cNvSpPr txBox="1"/>
          <p:nvPr/>
        </p:nvSpPr>
        <p:spPr>
          <a:xfrm>
            <a:off x="4700016" y="3675888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2D6B"/>
                </a:solidFill>
              </a:rPr>
              <a:t>temurin:21-winsrv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6830568" y="3017520"/>
            <a:ext cx="2057400" cy="1234440"/>
          </a:xfrm>
          <a:prstGeom prst="roundRect">
            <a:avLst>
              <a:gd name="adj" fmla="val 5185"/>
            </a:avLst>
          </a:prstGeom>
          <a:solidFill>
            <a:srgbClr val="F4F4F4"/>
          </a:solidFill>
          <a:ln w="12700">
            <a:solidFill>
              <a:srgbClr val="7B4FB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876288" y="3072384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7B4FBF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6876288" y="307238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6940296" y="34564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FAFAF"/>
                </a:solidFill>
              </a:rPr>
              <a:t>FROM</a:t>
            </a:r>
            <a:endParaRPr lang="en-US" sz="800" dirty="0"/>
          </a:p>
        </p:txBody>
      </p:sp>
      <p:sp>
        <p:nvSpPr>
          <p:cNvPr id="50" name="Text 47"/>
          <p:cNvSpPr txBox="1"/>
          <p:nvPr/>
        </p:nvSpPr>
        <p:spPr>
          <a:xfrm>
            <a:off x="6940296" y="3675888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2D6B"/>
                </a:solidFill>
              </a:rPr>
              <a:t>python:3.12-winsrv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9144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E97500"/>
                </a:solidFill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1488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2D6B"/>
                </a:solidFill>
              </a:rPr>
              <a:t>Resultados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8529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FAFAF"/>
                </a:solidFill>
              </a:rPr>
              <a:t>¿Qué encontramos en ambos entornos?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50892"/>
            <a:ext cx="9144000" cy="22860"/>
          </a:xfrm>
          <a:prstGeom prst="rect">
            <a:avLst/>
          </a:prstGeom>
          <a:solidFill>
            <a:srgbClr val="E975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" y="48691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FAFAF"/>
                </a:solidFill>
              </a:rPr>
              <a:t>Octubre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48691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FAFAF"/>
                </a:solidFill>
              </a:rPr>
              <a:t>Benchmark reproducible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48691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FAFAF"/>
                </a:solidFill>
              </a:rPr>
              <a:t>5 /12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54864"/>
            <a:ext cx="96012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50892"/>
            <a:ext cx="9144000" cy="22860"/>
          </a:xfrm>
          <a:prstGeom prst="rect">
            <a:avLst/>
          </a:prstGeom>
          <a:solidFill>
            <a:srgbClr val="E97500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9728" y="48691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FAFAF"/>
                </a:solidFill>
              </a:rPr>
              <a:t>Octubre 2026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3200400" y="48691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FAFAF"/>
                </a:solidFill>
              </a:rPr>
              <a:t>Benchmark reproducible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48691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FAFAF"/>
                </a:solidFill>
              </a:rPr>
              <a:t>6 /12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91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2D6B"/>
                </a:solidFill>
              </a:rPr>
              <a:t>Tiempos de ejecución — Linux containers (N=500)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188720" y="749808"/>
            <a:ext cx="7772400" cy="22860"/>
          </a:xfrm>
          <a:prstGeom prst="rect">
            <a:avLst/>
          </a:prstGeom>
          <a:solidFill>
            <a:srgbClr val="E97500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96112"/>
          <a:ext cx="6949440" cy="2514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Lenguaje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Imagen base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Mínimo (s)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Promedio (s)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Máximo (s)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vs C++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C++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gcc:13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0.0889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0.095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0.1139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1.0×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Java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eclipse-temurin:21-jdk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0.1181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0.130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0.1510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1.4×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golang:1.22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0.2268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0.236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0.2642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2.5×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</a:rPr>
                        <a:t>Python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python:3.12-slim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</a:rPr>
                        <a:t>6.2477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</a:rPr>
                        <a:t>6.427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</a:rPr>
                        <a:t>6.6522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</a:rPr>
                        <a:t>67.7×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269480" y="896112"/>
            <a:ext cx="1691640" cy="128016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002D6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287768" y="9326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D6B"/>
                </a:solidFill>
              </a:rPr>
              <a:t>✓ Más rápidos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7287768" y="11887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</a:rPr>
              <a:t>Go y Java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</a:rPr>
              <a:t>~2–2.5× vs C++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</a:rPr>
              <a:t>baja varianza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7269480" y="2304288"/>
            <a:ext cx="1691640" cy="1325880"/>
          </a:xfrm>
          <a:prstGeom prst="roundRect">
            <a:avLst>
              <a:gd name="adj" fmla="val 4828"/>
            </a:avLst>
          </a:prstGeom>
          <a:solidFill>
            <a:srgbClr val="FFF0E0"/>
          </a:solidFill>
          <a:ln w="12700">
            <a:solidFill>
              <a:srgbClr val="E9750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287768" y="23408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97500"/>
                </a:solidFill>
              </a:rPr>
              <a:t>⚠ Más lento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7287768" y="2596896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</a:rPr>
              <a:t>Python 6.4s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</a:rPr>
              <a:t>67.7× vs C++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</a:rPr>
              <a:t>CPython puro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54864"/>
            <a:ext cx="96012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50892"/>
            <a:ext cx="9144000" cy="22860"/>
          </a:xfrm>
          <a:prstGeom prst="rect">
            <a:avLst/>
          </a:prstGeom>
          <a:solidFill>
            <a:srgbClr val="E97500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9728" y="48691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FAFAF"/>
                </a:solidFill>
              </a:rPr>
              <a:t>Octubre 2026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3200400" y="48691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FAFAF"/>
                </a:solidFill>
              </a:rPr>
              <a:t>Benchmark reproducible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48691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FAFAF"/>
                </a:solidFill>
              </a:rPr>
              <a:t>7 /12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91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2D6B"/>
                </a:solidFill>
              </a:rPr>
              <a:t>Tiempos de ejecución — Windows containers (N=500)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188720" y="749808"/>
            <a:ext cx="7772400" cy="22860"/>
          </a:xfrm>
          <a:prstGeom prst="rect">
            <a:avLst/>
          </a:prstGeom>
          <a:solidFill>
            <a:srgbClr val="E97500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96112"/>
          <a:ext cx="6949440" cy="2514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Lenguaje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Imagen base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Mínimo (s)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Promedio (s)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Máximo (s)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vs C++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C++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servercore + MinGW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0.0900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0.102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0.1305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1.0×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golang:1.22-winsrv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0.2091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0.239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0.3152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2.3×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Java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temurin:21-jdk-winsrv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0.1286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0.158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0.2387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1.5×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</a:rPr>
                        <a:t>Python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python:3.12-winsrv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</a:rPr>
                        <a:t>7.2074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</a:rPr>
                        <a:t>7.737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</a:rPr>
                        <a:t>8.3959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</a:rPr>
                        <a:t>75.9×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269480" y="896112"/>
            <a:ext cx="1691640" cy="2926080"/>
          </a:xfrm>
          <a:prstGeom prst="roundRect">
            <a:avLst>
              <a:gd name="adj" fmla="val 3784"/>
            </a:avLst>
          </a:prstGeom>
          <a:solidFill>
            <a:srgbClr val="F4F4F4"/>
          </a:solidFill>
          <a:ln w="12700">
            <a:solidFill>
              <a:srgbClr val="002D6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287768" y="1005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D6B"/>
                </a:solidFill>
              </a:rPr>
              <a:t>Diferencias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2D6B"/>
                </a:solidFill>
              </a:rPr>
              <a:t>vs Linux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7287768" y="15727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</a:rPr>
              <a:t>C++  +7%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7287768" y="181051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</a:rPr>
              <a:t>Go   +1%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7287768" y="20482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</a:rPr>
              <a:t>Java </a:t>
            </a:r>
            <a:r>
              <a:rPr lang="en-US" sz="900" b="1" dirty="0">
                <a:solidFill>
                  <a:srgbClr val="E97500"/>
                </a:solidFill>
              </a:rPr>
              <a:t>+22%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7287768" y="22860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</a:rPr>
              <a:t>Python </a:t>
            </a:r>
            <a:r>
              <a:rPr lang="en-US" sz="900" b="1" dirty="0">
                <a:solidFill>
                  <a:srgbClr val="E97500"/>
                </a:solidFill>
              </a:rPr>
              <a:t>+20%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7287768" y="26700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FAFAF"/>
                </a:solidFill>
              </a:rPr>
              <a:t>Δ% = (Win−Lin)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AFAFAF"/>
                </a:solidFill>
              </a:rPr>
              <a:t>     / Lin × 100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54864"/>
            <a:ext cx="96012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50892"/>
            <a:ext cx="9144000" cy="22860"/>
          </a:xfrm>
          <a:prstGeom prst="rect">
            <a:avLst/>
          </a:prstGeom>
          <a:solidFill>
            <a:srgbClr val="E97500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9728" y="48691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FAFAF"/>
                </a:solidFill>
              </a:rPr>
              <a:t>Octubre 2026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3200400" y="48691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FAFAF"/>
                </a:solidFill>
              </a:rPr>
              <a:t>Benchmark reproducible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48691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FAFAF"/>
                </a:solidFill>
              </a:rPr>
              <a:t>8 /12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91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2D6B"/>
                </a:solidFill>
              </a:rPr>
              <a:t>Comparación Linux vs Windows containers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188720" y="749808"/>
            <a:ext cx="7772400" cy="22860"/>
          </a:xfrm>
          <a:prstGeom prst="rect">
            <a:avLst/>
          </a:prstGeom>
          <a:solidFill>
            <a:srgbClr val="E97500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96112"/>
          <a:ext cx="8412480" cy="25603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Lenguaje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Linux avg (s)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Windows avg (s)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Δ%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Observación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C++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0.095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0.102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+7%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Diferencia mínima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Go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0.236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0.239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+1%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Prácticamente igual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Java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0.130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0.158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97500"/>
                          </a:solidFill>
                        </a:rPr>
                        <a:t>+22%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JVM warmup en Windows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Python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6.427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7.737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97500"/>
                          </a:solidFill>
                        </a:rPr>
                        <a:t>+20%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Overhead Windows mayor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3611880"/>
            <a:ext cx="8412480" cy="594360"/>
          </a:xfrm>
          <a:prstGeom prst="roundRect">
            <a:avLst>
              <a:gd name="adj" fmla="val 10769"/>
            </a:avLst>
          </a:prstGeom>
          <a:solidFill>
            <a:srgbClr val="EEF2FA"/>
          </a:solidFill>
          <a:ln w="12700">
            <a:solidFill>
              <a:srgbClr val="002D6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3630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D6B"/>
                </a:solidFill>
              </a:rPr>
              <a:t>💡  Linux containers son 1–22% más rápidos en todos los lenguajes medidos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9144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E97500"/>
                </a:solidFill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1488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2D6B"/>
                </a:solidFill>
              </a:rPr>
              <a:t>Análisis y Criterios ACM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8529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FAFAF"/>
                </a:solidFill>
              </a:rPr>
              <a:t>Interpretación de resultados y reproducibilidad científica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50892"/>
            <a:ext cx="9144000" cy="22860"/>
          </a:xfrm>
          <a:prstGeom prst="rect">
            <a:avLst/>
          </a:prstGeom>
          <a:solidFill>
            <a:srgbClr val="E975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" y="48691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FAFAF"/>
                </a:solidFill>
              </a:rPr>
              <a:t>Octubre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48691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FAFAF"/>
                </a:solidFill>
              </a:rPr>
              <a:t>Benchmark reproducible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48691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FAFAF"/>
                </a:solidFill>
              </a:rPr>
              <a:t>9 /12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54864"/>
            <a:ext cx="96012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50892"/>
            <a:ext cx="9144000" cy="22860"/>
          </a:xfrm>
          <a:prstGeom prst="rect">
            <a:avLst/>
          </a:prstGeom>
          <a:solidFill>
            <a:srgbClr val="E97500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9728" y="48691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FAFAF"/>
                </a:solidFill>
              </a:rPr>
              <a:t>Octubre 2026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3200400" y="48691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FAFAF"/>
                </a:solidFill>
              </a:rPr>
              <a:t>Benchmark reproducible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48691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FAFAF"/>
                </a:solidFill>
              </a:rPr>
              <a:t>10 /12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91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2D6B"/>
                </a:solidFill>
              </a:rPr>
              <a:t>Análisis de rendimiento por lenguaje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188720" y="749808"/>
            <a:ext cx="7772400" cy="22860"/>
          </a:xfrm>
          <a:prstGeom prst="rect">
            <a:avLst/>
          </a:prstGeom>
          <a:solidFill>
            <a:srgbClr val="E97500"/>
          </a:solidFill>
          <a:ln/>
        </p:spPr>
      </p:sp>
      <p:sp>
        <p:nvSpPr>
          <p:cNvPr id="9" name="Shape 6"/>
          <p:cNvSpPr/>
          <p:nvPr/>
        </p:nvSpPr>
        <p:spPr>
          <a:xfrm>
            <a:off x="109728" y="877824"/>
            <a:ext cx="2103120" cy="3566160"/>
          </a:xfrm>
          <a:prstGeom prst="roundRect">
            <a:avLst>
              <a:gd name="adj" fmla="val 3478"/>
            </a:avLst>
          </a:prstGeom>
          <a:solidFill>
            <a:srgbClr val="F4F4F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" y="877824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1A6FC4"/>
          </a:solidFill>
          <a:ln/>
        </p:spPr>
      </p:sp>
      <p:sp>
        <p:nvSpPr>
          <p:cNvPr id="11" name="Shape 8"/>
          <p:cNvSpPr/>
          <p:nvPr/>
        </p:nvSpPr>
        <p:spPr>
          <a:xfrm>
            <a:off x="109728" y="1335024"/>
            <a:ext cx="2103120" cy="228600"/>
          </a:xfrm>
          <a:prstGeom prst="rect">
            <a:avLst/>
          </a:prstGeom>
          <a:solidFill>
            <a:srgbClr val="1A6FC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9728" y="896112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C++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225296" y="896112"/>
            <a:ext cx="969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1.0×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82880" y="1609344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D6B"/>
                </a:solidFill>
              </a:rPr>
              <a:t>Más rápido (referencia)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201168" y="2103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</a:rPr>
              <a:t>▸  Código nativo compilado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201168" y="24871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</a:rPr>
              <a:t>▸  Sin GC ni runtime overhead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201168" y="28712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</a:rPr>
              <a:t>▸  Compilado con -O0 (sin optim.)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01168" y="325526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</a:rPr>
              <a:t>▸  Benchmark más controlado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340864" y="877824"/>
            <a:ext cx="2103120" cy="3566160"/>
          </a:xfrm>
          <a:prstGeom prst="roundRect">
            <a:avLst>
              <a:gd name="adj" fmla="val 3478"/>
            </a:avLst>
          </a:prstGeom>
          <a:solidFill>
            <a:srgbClr val="F4F4F4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340864" y="877824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E08A3C"/>
          </a:solidFill>
          <a:ln/>
        </p:spPr>
      </p:sp>
      <p:sp>
        <p:nvSpPr>
          <p:cNvPr id="21" name="Shape 18"/>
          <p:cNvSpPr/>
          <p:nvPr/>
        </p:nvSpPr>
        <p:spPr>
          <a:xfrm>
            <a:off x="2340864" y="1335024"/>
            <a:ext cx="2103120" cy="22860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2340864" y="896112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Java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3456432" y="896112"/>
            <a:ext cx="969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1.4–1.5×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414016" y="1609344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D6B"/>
                </a:solidFill>
              </a:rPr>
              <a:t>Compilación JIT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2432304" y="2103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</a:rPr>
              <a:t>▸  JVM HotSpot optimiza en runtime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2432304" y="24871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</a:rPr>
              <a:t>▸  Mejor que Go en Linux (JIT)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2432304" y="28712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</a:rPr>
              <a:t>▸  Mayor varianza en Windows (warmup)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2432304" y="325526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</a:rPr>
              <a:t>▸  Rango: 0.118–0.239s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0" y="877824"/>
            <a:ext cx="2103120" cy="3566160"/>
          </a:xfrm>
          <a:prstGeom prst="roundRect">
            <a:avLst>
              <a:gd name="adj" fmla="val 3478"/>
            </a:avLst>
          </a:prstGeom>
          <a:solidFill>
            <a:srgbClr val="F4F4F4"/>
          </a:solidFill>
          <a:ln w="12700">
            <a:solidFill>
              <a:srgbClr val="0FA98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0" y="877824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0FA982"/>
          </a:solidFill>
          <a:ln/>
        </p:spPr>
      </p:sp>
      <p:sp>
        <p:nvSpPr>
          <p:cNvPr id="31" name="Shape 28"/>
          <p:cNvSpPr/>
          <p:nvPr/>
        </p:nvSpPr>
        <p:spPr>
          <a:xfrm>
            <a:off x="4572000" y="1335024"/>
            <a:ext cx="2103120" cy="228600"/>
          </a:xfrm>
          <a:prstGeom prst="rect">
            <a:avLst/>
          </a:prstGeom>
          <a:solidFill>
            <a:srgbClr val="0FA9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572000" y="896112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Go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5687568" y="896112"/>
            <a:ext cx="969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2.3–2.5×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4645152" y="1609344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D6B"/>
                </a:solidFill>
              </a:rPr>
              <a:t>GC overhead mínimo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4663440" y="2103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</a:rPr>
              <a:t>▸  Recolector de basura concurrente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4663440" y="24871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</a:rPr>
              <a:t>▸  Diferencia Linux/Windows mínima (+1%)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4663440" y="28712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</a:rPr>
              <a:t>▸  Más consistente entre entornos</a:t>
            </a:r>
            <a:endParaRPr lang="en-US" sz="850" dirty="0"/>
          </a:p>
        </p:txBody>
      </p:sp>
      <p:sp>
        <p:nvSpPr>
          <p:cNvPr id="38" name="Text 35"/>
          <p:cNvSpPr txBox="1"/>
          <p:nvPr/>
        </p:nvSpPr>
        <p:spPr>
          <a:xfrm>
            <a:off x="4663440" y="325526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</a:rPr>
              <a:t>▸  Baja variabilidad entre rep.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803136" y="877824"/>
            <a:ext cx="2103120" cy="3566160"/>
          </a:xfrm>
          <a:prstGeom prst="roundRect">
            <a:avLst>
              <a:gd name="adj" fmla="val 3478"/>
            </a:avLst>
          </a:prstGeom>
          <a:solidFill>
            <a:srgbClr val="F4F4F4"/>
          </a:solidFill>
          <a:ln w="12700">
            <a:solidFill>
              <a:srgbClr val="7B4FB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803136" y="877824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7B4FBF"/>
          </a:solidFill>
          <a:ln/>
        </p:spPr>
      </p:sp>
      <p:sp>
        <p:nvSpPr>
          <p:cNvPr id="41" name="Shape 38"/>
          <p:cNvSpPr/>
          <p:nvPr/>
        </p:nvSpPr>
        <p:spPr>
          <a:xfrm>
            <a:off x="6803136" y="1335024"/>
            <a:ext cx="2103120" cy="228600"/>
          </a:xfrm>
          <a:prstGeom prst="rect">
            <a:avLst/>
          </a:prstGeom>
          <a:solidFill>
            <a:srgbClr val="7B4FBF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6803136" y="896112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Python</a:t>
            </a:r>
            <a:endParaRPr lang="en-US" sz="2000" dirty="0"/>
          </a:p>
        </p:txBody>
      </p:sp>
      <p:sp>
        <p:nvSpPr>
          <p:cNvPr id="43" name="Text 40"/>
          <p:cNvSpPr txBox="1"/>
          <p:nvPr/>
        </p:nvSpPr>
        <p:spPr>
          <a:xfrm>
            <a:off x="7918704" y="896112"/>
            <a:ext cx="969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67–76×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6876288" y="1609344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D6B"/>
                </a:solidFill>
              </a:rPr>
              <a:t>CPython puro — más lento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6894576" y="2103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</a:rPr>
              <a:t>▸  GIL limita concurrencia</a:t>
            </a:r>
            <a:endParaRPr lang="en-US" sz="850" dirty="0"/>
          </a:p>
        </p:txBody>
      </p:sp>
      <p:sp>
        <p:nvSpPr>
          <p:cNvPr id="46" name="Text 43"/>
          <p:cNvSpPr txBox="1"/>
          <p:nvPr/>
        </p:nvSpPr>
        <p:spPr>
          <a:xfrm>
            <a:off x="6894576" y="24871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</a:rPr>
              <a:t>▸  Sin vectorización BLAS/NumPy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6894576" y="28712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</a:rPr>
              <a:t>▸  76× más lento en Windows</a:t>
            </a:r>
            <a:endParaRPr lang="en-US" sz="850" dirty="0"/>
          </a:p>
        </p:txBody>
      </p:sp>
      <p:sp>
        <p:nvSpPr>
          <p:cNvPr id="48" name="Text 45"/>
          <p:cNvSpPr txBox="1"/>
          <p:nvPr/>
        </p:nvSpPr>
        <p:spPr>
          <a:xfrm>
            <a:off x="6894576" y="325526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</a:rPr>
              <a:t>▸  Necesita NumPy para escala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54864"/>
            <a:ext cx="96012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50892"/>
            <a:ext cx="9144000" cy="22860"/>
          </a:xfrm>
          <a:prstGeom prst="rect">
            <a:avLst/>
          </a:prstGeom>
          <a:solidFill>
            <a:srgbClr val="E97500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9728" y="48691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FAFAF"/>
                </a:solidFill>
              </a:rPr>
              <a:t>Octubre 2026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3200400" y="48691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FAFAF"/>
                </a:solidFill>
              </a:rPr>
              <a:t>Benchmark reproducible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48691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FAFAF"/>
                </a:solidFill>
              </a:rPr>
              <a:t>11 /12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91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2D6B"/>
                </a:solidFill>
              </a:rPr>
              <a:t>Criterios ACM Artifact Review &amp; Badging — Functional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188720" y="749808"/>
            <a:ext cx="7772400" cy="22860"/>
          </a:xfrm>
          <a:prstGeom prst="rect">
            <a:avLst/>
          </a:prstGeom>
          <a:solidFill>
            <a:srgbClr val="E97500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77824"/>
          <a:ext cx="7406640" cy="29718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Criterio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Evidencia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Documented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Documentación suficiente para entender y ejercitar la funcionalidad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README.md completo, Dockerfiles, scripts comentados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Consistent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Resultados consistentes con los reportados en el paper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LCG idéntico en 4 lenguajes garantiza mismas matrices de entrada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Todo el material necesario para reproducir los resultados está incluido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Código, Dockerfiles, resultados CSV, scripts PowerShell en GitHub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Exercisable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 puede ejecutar y obtener resultados en el entorno del evaluador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docker build + docker run en Linux/Windows produce CSV idénticos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>
            <a:hlinkClick r:id="rId4"/>
          </p:cNvPr>
          <p:cNvSpPr txBox="1"/>
          <p:nvPr/>
        </p:nvSpPr>
        <p:spPr>
          <a:xfrm>
            <a:off x="274320" y="448513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002D6B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github.com/jffp-alt/matrix-benchmark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54864"/>
            <a:ext cx="96012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50892"/>
            <a:ext cx="9144000" cy="22860"/>
          </a:xfrm>
          <a:prstGeom prst="rect">
            <a:avLst/>
          </a:prstGeom>
          <a:solidFill>
            <a:srgbClr val="E97500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9728" y="48691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FAFAF"/>
                </a:solidFill>
              </a:rPr>
              <a:t>Octubre 2026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3200400" y="48691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FAFAF"/>
                </a:solidFill>
              </a:rPr>
              <a:t>Benchmark reproducible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48691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FAFAF"/>
                </a:solidFill>
              </a:rPr>
              <a:t>12 /12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91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2D6B"/>
                </a:solidFill>
              </a:rPr>
              <a:t>Conclusiones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1188720" y="749808"/>
            <a:ext cx="7772400" cy="22860"/>
          </a:xfrm>
          <a:prstGeom prst="rect">
            <a:avLst/>
          </a:prstGeom>
          <a:solidFill>
            <a:srgbClr val="E97500"/>
          </a:solidFill>
          <a:ln/>
        </p:spPr>
      </p:sp>
      <p:sp>
        <p:nvSpPr>
          <p:cNvPr id="9" name="Shape 6"/>
          <p:cNvSpPr/>
          <p:nvPr/>
        </p:nvSpPr>
        <p:spPr>
          <a:xfrm>
            <a:off x="274320" y="905256"/>
            <a:ext cx="411480" cy="411480"/>
          </a:xfrm>
          <a:prstGeom prst="ellipse">
            <a:avLst/>
          </a:prstGeom>
          <a:solidFill>
            <a:srgbClr val="E975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74320" y="9052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8686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2D6B"/>
                </a:solidFill>
              </a:rPr>
              <a:t>C++ es el más rápido en ambos entornos — código nativo sin GC ni runtime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1600200"/>
            <a:ext cx="411480" cy="411480"/>
          </a:xfrm>
          <a:prstGeom prst="ellipse">
            <a:avLst/>
          </a:prstGeom>
          <a:solidFill>
            <a:srgbClr val="E975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1563624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2D6B"/>
                </a:solidFill>
              </a:rPr>
              <a:t>Python puro es 67–76× más lento — se recomienda NumPy/BLAS para matrices grandes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2295144"/>
            <a:ext cx="411480" cy="411480"/>
          </a:xfrm>
          <a:prstGeom prst="ellipse">
            <a:avLst/>
          </a:prstGeom>
          <a:solidFill>
            <a:srgbClr val="E975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74320" y="22951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225856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2D6B"/>
                </a:solidFill>
              </a:rPr>
              <a:t>Linux containers son 1–22% más eficientes que Windows containers en todos los lenguajes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74320" y="2990088"/>
            <a:ext cx="411480" cy="411480"/>
          </a:xfrm>
          <a:prstGeom prst="ellipse">
            <a:avLst/>
          </a:prstGeom>
          <a:solidFill>
            <a:srgbClr val="E975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74320" y="2990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295351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2D6B"/>
                </a:solidFill>
              </a:rPr>
              <a:t>El generador LCG idéntico en 4 lenguajes garantiza reproducibilidad total del experimento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74320" y="3685032"/>
            <a:ext cx="411480" cy="411480"/>
          </a:xfrm>
          <a:prstGeom prst="ellipse">
            <a:avLst/>
          </a:prstGeom>
          <a:solidFill>
            <a:srgbClr val="E9750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274320" y="3685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3648456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2D6B"/>
                </a:solidFill>
              </a:rPr>
              <a:t>El artefacto cumple los criterios ACM Functional: Documented, Consistent, Complete, Exercisable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74320" y="4338828"/>
            <a:ext cx="8595360" cy="22860"/>
          </a:xfrm>
          <a:prstGeom prst="rect">
            <a:avLst/>
          </a:prstGeom>
          <a:solidFill>
            <a:srgbClr val="E9750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274320" y="43662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FAFAF"/>
                </a:solidFill>
              </a:rPr>
              <a:t>Próximos pasos (Semana 4): N=1000/2000, Python+NumPy, análisis con IC 95%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ACH Benchmark">
  <a:themeElements>
    <a:clrScheme name="USACH Benchmark">
      <a:dk1>
        <a:srgbClr val="000000"/>
      </a:dk1>
      <a:lt1>
        <a:srgbClr val="FFFFFF"/>
      </a:lt1>
      <a:dk2>
        <a:srgbClr val="002D6B"/>
      </a:dk2>
      <a:lt2>
        <a:srgbClr val="F4F4F4"/>
      </a:lt2>
      <a:accent1>
        <a:srgbClr val="002D6B"/>
      </a:accent1>
      <a:accent2>
        <a:srgbClr val="E97500"/>
      </a:accent2>
      <a:accent3>
        <a:srgbClr val="1A6FC4"/>
      </a:accent3>
      <a:accent4>
        <a:srgbClr val="0FA982"/>
      </a:accent4>
      <a:accent5>
        <a:srgbClr val="E08A3C"/>
      </a:accent5>
      <a:accent6>
        <a:srgbClr val="7B4FBF"/>
      </a:accent6>
      <a:hlink>
        <a:srgbClr val="002D6B"/>
      </a:hlink>
      <a:folHlink>
        <a:srgbClr val="AFAFAF"/>
      </a:folHlink>
    </a:clrScheme>
    <a:fontScheme name="USACH Benchmark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950</Words>
  <Application>Microsoft Office PowerPoint</Application>
  <PresentationFormat>Presentación en pantalla (16:9)</PresentationFormat>
  <Paragraphs>290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USACH Benchmark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de Santiago de Chile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3 – Entorno Reproducible</dc:title>
  <dc:subject>Benchmark Matrices NxN — Docker Linux + Windows Containers</dc:subject>
  <dc:creator>Jorge Fornes Pavez</dc:creator>
  <cp:lastModifiedBy>JORGE</cp:lastModifiedBy>
  <cp:revision>3</cp:revision>
  <dcterms:created xsi:type="dcterms:W3CDTF">2026-10-26T12:36:56Z</dcterms:created>
  <dcterms:modified xsi:type="dcterms:W3CDTF">2026-10-26T12:52:25Z</dcterms:modified>
</cp:coreProperties>
</file>